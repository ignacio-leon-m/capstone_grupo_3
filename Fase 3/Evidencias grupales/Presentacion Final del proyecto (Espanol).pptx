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Montserrat Ultra-Bold" charset="1" panose="00000900000000000000"/>
      <p:regular r:id="rId20"/>
    </p:embeddedFont>
    <p:embeddedFont>
      <p:font typeface="Montserrat Semi-Bold" charset="1" panose="00000700000000000000"/>
      <p:regular r:id="rId21"/>
    </p:embeddedFont>
    <p:embeddedFont>
      <p:font typeface="Open Sans Bold" charset="1" panose="00000000000000000000"/>
      <p:regular r:id="rId22"/>
    </p:embeddedFont>
    <p:embeddedFont>
      <p:font typeface="Open Sans Medium" charset="1" panose="00000000000000000000"/>
      <p:regular r:id="rId23"/>
    </p:embeddedFont>
    <p:embeddedFont>
      <p:font typeface="Montserrat Bold" charset="1" panose="00000800000000000000"/>
      <p:regular r:id="rId24"/>
    </p:embeddedFont>
    <p:embeddedFont>
      <p:font typeface="Open Sans Medium Italics" charset="1" panose="00000000000000000000"/>
      <p:regular r:id="rId25"/>
    </p:embeddedFont>
    <p:embeddedFont>
      <p:font typeface="Open Sans Italics" charset="1" panose="00000000000000000000"/>
      <p:regular r:id="rId26"/>
    </p:embeddedFont>
    <p:embeddedFont>
      <p:font typeface="Open Sans" charset="1" panose="00000000000000000000"/>
      <p:regular r:id="rId27"/>
    </p:embeddedFont>
    <p:embeddedFont>
      <p:font typeface="Inter Bold" charset="1" panose="020B0802030000000004"/>
      <p:regular r:id="rId28"/>
    </p:embeddedFont>
    <p:embeddedFont>
      <p:font typeface="Inter" charset="1" panose="020B0502030000000004"/>
      <p:regular r:id="rId29"/>
    </p:embeddedFont>
    <p:embeddedFont>
      <p:font typeface="Open Sans Ultra-Bold"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9.png" Type="http://schemas.openxmlformats.org/officeDocument/2006/relationships/image"/><Relationship Id="rId5"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9.png" Type="http://schemas.openxmlformats.org/officeDocument/2006/relationships/image"/><Relationship Id="rId5"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812486" y="-924031"/>
            <a:ext cx="9051198" cy="8564696"/>
          </a:xfrm>
          <a:custGeom>
            <a:avLst/>
            <a:gdLst/>
            <a:ahLst/>
            <a:cxnLst/>
            <a:rect r="r" b="b" t="t" l="l"/>
            <a:pathLst>
              <a:path h="8564696" w="9051198">
                <a:moveTo>
                  <a:pt x="0" y="0"/>
                </a:moveTo>
                <a:lnTo>
                  <a:pt x="9051198" y="0"/>
                </a:lnTo>
                <a:lnTo>
                  <a:pt x="9051198" y="8564696"/>
                </a:lnTo>
                <a:lnTo>
                  <a:pt x="0" y="85646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46437" y="1028700"/>
            <a:ext cx="7832709" cy="720895"/>
            <a:chOff x="0" y="0"/>
            <a:chExt cx="2062936" cy="189865"/>
          </a:xfrm>
        </p:grpSpPr>
        <p:sp>
          <p:nvSpPr>
            <p:cNvPr name="Freeform 4" id="4"/>
            <p:cNvSpPr/>
            <p:nvPr/>
          </p:nvSpPr>
          <p:spPr>
            <a:xfrm flipH="false" flipV="false" rot="0">
              <a:off x="0" y="0"/>
              <a:ext cx="2062936" cy="189865"/>
            </a:xfrm>
            <a:custGeom>
              <a:avLst/>
              <a:gdLst/>
              <a:ahLst/>
              <a:cxnLst/>
              <a:rect r="r" b="b" t="t" l="l"/>
              <a:pathLst>
                <a:path h="189865" w="2062936">
                  <a:moveTo>
                    <a:pt x="50409" y="0"/>
                  </a:moveTo>
                  <a:lnTo>
                    <a:pt x="2012527" y="0"/>
                  </a:lnTo>
                  <a:cubicBezTo>
                    <a:pt x="2040367" y="0"/>
                    <a:pt x="2062936" y="22569"/>
                    <a:pt x="2062936" y="50409"/>
                  </a:cubicBezTo>
                  <a:lnTo>
                    <a:pt x="2062936" y="139457"/>
                  </a:lnTo>
                  <a:cubicBezTo>
                    <a:pt x="2062936" y="167297"/>
                    <a:pt x="2040367" y="189865"/>
                    <a:pt x="2012527" y="189865"/>
                  </a:cubicBezTo>
                  <a:lnTo>
                    <a:pt x="50409" y="189865"/>
                  </a:lnTo>
                  <a:cubicBezTo>
                    <a:pt x="22569" y="189865"/>
                    <a:pt x="0" y="167297"/>
                    <a:pt x="0" y="139457"/>
                  </a:cubicBezTo>
                  <a:lnTo>
                    <a:pt x="0" y="50409"/>
                  </a:lnTo>
                  <a:cubicBezTo>
                    <a:pt x="0" y="22569"/>
                    <a:pt x="22569" y="0"/>
                    <a:pt x="50409" y="0"/>
                  </a:cubicBezTo>
                  <a:close/>
                </a:path>
              </a:pathLst>
            </a:custGeom>
            <a:solidFill>
              <a:srgbClr val="000000">
                <a:alpha val="0"/>
              </a:srgbClr>
            </a:solidFill>
            <a:ln w="57150" cap="rnd">
              <a:solidFill>
                <a:srgbClr val="433878"/>
              </a:solidFill>
              <a:prstDash val="solid"/>
              <a:round/>
            </a:ln>
          </p:spPr>
        </p:sp>
        <p:sp>
          <p:nvSpPr>
            <p:cNvPr name="TextBox 5" id="5"/>
            <p:cNvSpPr txBox="true"/>
            <p:nvPr/>
          </p:nvSpPr>
          <p:spPr>
            <a:xfrm>
              <a:off x="0" y="-38100"/>
              <a:ext cx="2062936" cy="22796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58848" y="1154250"/>
            <a:ext cx="469795" cy="46979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B8B0"/>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827270" y="5372377"/>
            <a:ext cx="0" cy="4914623"/>
          </a:xfrm>
          <a:prstGeom prst="line">
            <a:avLst/>
          </a:prstGeom>
          <a:ln cap="flat" w="57150">
            <a:solidFill>
              <a:srgbClr val="A594F9"/>
            </a:solidFill>
            <a:prstDash val="solid"/>
            <a:headEnd type="none" len="sm" w="sm"/>
            <a:tailEnd type="none" len="sm" w="sm"/>
          </a:ln>
        </p:spPr>
      </p:sp>
      <p:grpSp>
        <p:nvGrpSpPr>
          <p:cNvPr name="Group 10" id="10"/>
          <p:cNvGrpSpPr/>
          <p:nvPr/>
        </p:nvGrpSpPr>
        <p:grpSpPr>
          <a:xfrm rot="0">
            <a:off x="12593360" y="8071511"/>
            <a:ext cx="6261306" cy="1186789"/>
            <a:chOff x="0" y="0"/>
            <a:chExt cx="1649068" cy="312570"/>
          </a:xfrm>
        </p:grpSpPr>
        <p:sp>
          <p:nvSpPr>
            <p:cNvPr name="Freeform 11" id="11"/>
            <p:cNvSpPr/>
            <p:nvPr/>
          </p:nvSpPr>
          <p:spPr>
            <a:xfrm flipH="false" flipV="false" rot="0">
              <a:off x="0" y="0"/>
              <a:ext cx="1649068" cy="312570"/>
            </a:xfrm>
            <a:custGeom>
              <a:avLst/>
              <a:gdLst/>
              <a:ahLst/>
              <a:cxnLst/>
              <a:rect r="r" b="b" t="t" l="l"/>
              <a:pathLst>
                <a:path h="312570" w="1649068">
                  <a:moveTo>
                    <a:pt x="24729" y="0"/>
                  </a:moveTo>
                  <a:lnTo>
                    <a:pt x="1624339" y="0"/>
                  </a:lnTo>
                  <a:cubicBezTo>
                    <a:pt x="1637997" y="0"/>
                    <a:pt x="1649068" y="11072"/>
                    <a:pt x="1649068" y="24729"/>
                  </a:cubicBezTo>
                  <a:lnTo>
                    <a:pt x="1649068" y="287841"/>
                  </a:lnTo>
                  <a:cubicBezTo>
                    <a:pt x="1649068" y="301498"/>
                    <a:pt x="1637997" y="312570"/>
                    <a:pt x="1624339" y="312570"/>
                  </a:cubicBezTo>
                  <a:lnTo>
                    <a:pt x="24729" y="312570"/>
                  </a:lnTo>
                  <a:cubicBezTo>
                    <a:pt x="11072" y="312570"/>
                    <a:pt x="0" y="301498"/>
                    <a:pt x="0" y="287841"/>
                  </a:cubicBezTo>
                  <a:lnTo>
                    <a:pt x="0" y="24729"/>
                  </a:lnTo>
                  <a:cubicBezTo>
                    <a:pt x="0" y="11072"/>
                    <a:pt x="11072" y="0"/>
                    <a:pt x="24729" y="0"/>
                  </a:cubicBezTo>
                  <a:close/>
                </a:path>
              </a:pathLst>
            </a:custGeom>
            <a:solidFill>
              <a:srgbClr val="E9B57D">
                <a:alpha val="89804"/>
              </a:srgbClr>
            </a:solidFill>
          </p:spPr>
        </p:sp>
        <p:sp>
          <p:nvSpPr>
            <p:cNvPr name="TextBox 12" id="12"/>
            <p:cNvSpPr txBox="true"/>
            <p:nvPr/>
          </p:nvSpPr>
          <p:spPr>
            <a:xfrm>
              <a:off x="0" y="-38100"/>
              <a:ext cx="1649068" cy="35067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028700" y="6111240"/>
            <a:ext cx="880691" cy="880691"/>
          </a:xfrm>
          <a:custGeom>
            <a:avLst/>
            <a:gdLst/>
            <a:ahLst/>
            <a:cxnLst/>
            <a:rect r="r" b="b" t="t" l="l"/>
            <a:pathLst>
              <a:path h="880691" w="880691">
                <a:moveTo>
                  <a:pt x="0" y="0"/>
                </a:moveTo>
                <a:lnTo>
                  <a:pt x="880691" y="0"/>
                </a:lnTo>
                <a:lnTo>
                  <a:pt x="880691" y="880691"/>
                </a:lnTo>
                <a:lnTo>
                  <a:pt x="0" y="8806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2648775" y="9248775"/>
            <a:ext cx="6150475" cy="392093"/>
          </a:xfrm>
          <a:custGeom>
            <a:avLst/>
            <a:gdLst/>
            <a:ahLst/>
            <a:cxnLst/>
            <a:rect r="r" b="b" t="t" l="l"/>
            <a:pathLst>
              <a:path h="392093" w="6150475">
                <a:moveTo>
                  <a:pt x="0" y="0"/>
                </a:moveTo>
                <a:lnTo>
                  <a:pt x="6150475" y="0"/>
                </a:lnTo>
                <a:lnTo>
                  <a:pt x="6150475" y="392093"/>
                </a:lnTo>
                <a:lnTo>
                  <a:pt x="0" y="392093"/>
                </a:lnTo>
                <a:lnTo>
                  <a:pt x="0" y="0"/>
                </a:lnTo>
                <a:close/>
              </a:path>
            </a:pathLst>
          </a:custGeom>
          <a:blipFill>
            <a:blip r:embed="rId6"/>
            <a:stretch>
              <a:fillRect l="0" t="0" r="0" b="0"/>
            </a:stretch>
          </a:blipFill>
        </p:spPr>
      </p:sp>
      <p:grpSp>
        <p:nvGrpSpPr>
          <p:cNvPr name="Group 15" id="15"/>
          <p:cNvGrpSpPr>
            <a:grpSpLocks noChangeAspect="true"/>
          </p:cNvGrpSpPr>
          <p:nvPr/>
        </p:nvGrpSpPr>
        <p:grpSpPr>
          <a:xfrm rot="0">
            <a:off x="7985335" y="1918999"/>
            <a:ext cx="9326880" cy="4892919"/>
            <a:chOff x="0" y="0"/>
            <a:chExt cx="16440150" cy="8624570"/>
          </a:xfrm>
        </p:grpSpPr>
        <p:sp>
          <p:nvSpPr>
            <p:cNvPr name="Freeform 16" id="16"/>
            <p:cNvSpPr/>
            <p:nvPr/>
          </p:nvSpPr>
          <p:spPr>
            <a:xfrm flipH="false" flipV="false" rot="0">
              <a:off x="266700" y="459740"/>
              <a:ext cx="15908021" cy="7754620"/>
            </a:xfrm>
            <a:custGeom>
              <a:avLst/>
              <a:gdLst/>
              <a:ahLst/>
              <a:cxnLst/>
              <a:rect r="r" b="b" t="t" l="l"/>
              <a:pathLst>
                <a:path h="7754620" w="15908021">
                  <a:moveTo>
                    <a:pt x="15115539" y="7754620"/>
                  </a:moveTo>
                  <a:lnTo>
                    <a:pt x="791210" y="7754620"/>
                  </a:lnTo>
                  <a:cubicBezTo>
                    <a:pt x="354330" y="7754620"/>
                    <a:pt x="0" y="7400290"/>
                    <a:pt x="0" y="6963410"/>
                  </a:cubicBezTo>
                  <a:lnTo>
                    <a:pt x="0" y="791210"/>
                  </a:lnTo>
                  <a:cubicBezTo>
                    <a:pt x="0" y="354330"/>
                    <a:pt x="354330" y="0"/>
                    <a:pt x="791210" y="0"/>
                  </a:cubicBezTo>
                  <a:lnTo>
                    <a:pt x="15116811" y="0"/>
                  </a:lnTo>
                  <a:cubicBezTo>
                    <a:pt x="15553691" y="0"/>
                    <a:pt x="15908021" y="354330"/>
                    <a:pt x="15908021" y="791210"/>
                  </a:cubicBezTo>
                  <a:lnTo>
                    <a:pt x="15908021" y="6962140"/>
                  </a:lnTo>
                  <a:cubicBezTo>
                    <a:pt x="15908020" y="7400290"/>
                    <a:pt x="15553689" y="7754620"/>
                    <a:pt x="15115539" y="7754620"/>
                  </a:cubicBezTo>
                  <a:close/>
                </a:path>
              </a:pathLst>
            </a:custGeom>
            <a:blipFill>
              <a:blip r:embed="rId7"/>
              <a:stretch>
                <a:fillRect l="0" t="-20387" r="-13298" b="-62159"/>
              </a:stretch>
            </a:blipFill>
          </p:spPr>
        </p:sp>
        <p:sp>
          <p:nvSpPr>
            <p:cNvPr name="Freeform 17" id="17"/>
            <p:cNvSpPr/>
            <p:nvPr/>
          </p:nvSpPr>
          <p:spPr>
            <a:xfrm flipH="false" flipV="false" rot="0">
              <a:off x="0" y="0"/>
              <a:ext cx="16446500" cy="8636000"/>
            </a:xfrm>
            <a:custGeom>
              <a:avLst/>
              <a:gdLst/>
              <a:ahLst/>
              <a:cxnLst/>
              <a:rect r="r" b="b" t="t" l="l"/>
              <a:pathLst>
                <a:path h="8636000" w="16446500">
                  <a:moveTo>
                    <a:pt x="0" y="0"/>
                  </a:moveTo>
                  <a:lnTo>
                    <a:pt x="16446500" y="0"/>
                  </a:lnTo>
                  <a:lnTo>
                    <a:pt x="16446500" y="8636000"/>
                  </a:lnTo>
                  <a:lnTo>
                    <a:pt x="0" y="8636000"/>
                  </a:lnTo>
                  <a:close/>
                </a:path>
              </a:pathLst>
            </a:custGeom>
          </p:spPr>
        </p:sp>
      </p:grpSp>
      <p:sp>
        <p:nvSpPr>
          <p:cNvPr name="TextBox 18" id="18"/>
          <p:cNvSpPr txBox="true"/>
          <p:nvPr/>
        </p:nvSpPr>
        <p:spPr>
          <a:xfrm rot="0">
            <a:off x="1028700" y="7000857"/>
            <a:ext cx="9762298" cy="1334135"/>
          </a:xfrm>
          <a:prstGeom prst="rect">
            <a:avLst/>
          </a:prstGeom>
        </p:spPr>
        <p:txBody>
          <a:bodyPr anchor="t" rtlCol="false" tIns="0" lIns="0" bIns="0" rIns="0">
            <a:spAutoFit/>
          </a:bodyPr>
          <a:lstStyle/>
          <a:p>
            <a:pPr algn="l" marL="0" indent="0" lvl="0">
              <a:lnSpc>
                <a:spcPts val="10464"/>
              </a:lnSpc>
            </a:pPr>
            <a:r>
              <a:rPr lang="en-US" b="true" sz="9099">
                <a:solidFill>
                  <a:srgbClr val="433878"/>
                </a:solidFill>
                <a:latin typeface="Montserrat Ultra-Bold"/>
                <a:ea typeface="Montserrat Ultra-Bold"/>
                <a:cs typeface="Montserrat Ultra-Bold"/>
                <a:sym typeface="Montserrat Ultra-Bold"/>
              </a:rPr>
              <a:t>BRAIN BOOST</a:t>
            </a:r>
          </a:p>
        </p:txBody>
      </p:sp>
      <p:sp>
        <p:nvSpPr>
          <p:cNvPr name="TextBox 19" id="19"/>
          <p:cNvSpPr txBox="true"/>
          <p:nvPr/>
        </p:nvSpPr>
        <p:spPr>
          <a:xfrm rot="0">
            <a:off x="1028700" y="8578813"/>
            <a:ext cx="9762298" cy="679450"/>
          </a:xfrm>
          <a:prstGeom prst="rect">
            <a:avLst/>
          </a:prstGeom>
        </p:spPr>
        <p:txBody>
          <a:bodyPr anchor="t" rtlCol="false" tIns="0" lIns="0" bIns="0" rIns="0">
            <a:spAutoFit/>
          </a:bodyPr>
          <a:lstStyle/>
          <a:p>
            <a:pPr algn="l" marL="0" indent="0" lvl="0">
              <a:lnSpc>
                <a:spcPts val="5600"/>
              </a:lnSpc>
            </a:pPr>
            <a:r>
              <a:rPr lang="en-US" b="true" sz="4000" spc="400">
                <a:solidFill>
                  <a:srgbClr val="433878"/>
                </a:solidFill>
                <a:latin typeface="Montserrat Semi-Bold"/>
                <a:ea typeface="Montserrat Semi-Bold"/>
                <a:cs typeface="Montserrat Semi-Bold"/>
                <a:sym typeface="Montserrat Semi-Bold"/>
              </a:rPr>
              <a:t>Presentación FInal Capstone</a:t>
            </a:r>
          </a:p>
        </p:txBody>
      </p:sp>
      <p:sp>
        <p:nvSpPr>
          <p:cNvPr name="TextBox 20" id="20"/>
          <p:cNvSpPr txBox="true"/>
          <p:nvPr/>
        </p:nvSpPr>
        <p:spPr>
          <a:xfrm rot="0">
            <a:off x="827270" y="1239596"/>
            <a:ext cx="5310239" cy="308610"/>
          </a:xfrm>
          <a:prstGeom prst="rect">
            <a:avLst/>
          </a:prstGeom>
        </p:spPr>
        <p:txBody>
          <a:bodyPr anchor="t" rtlCol="false" tIns="0" lIns="0" bIns="0" rIns="0">
            <a:spAutoFit/>
          </a:bodyPr>
          <a:lstStyle/>
          <a:p>
            <a:pPr algn="l">
              <a:lnSpc>
                <a:spcPts val="2415"/>
              </a:lnSpc>
              <a:spcBef>
                <a:spcPct val="0"/>
              </a:spcBef>
            </a:pPr>
            <a:r>
              <a:rPr lang="en-US" b="true" sz="2100" spc="210">
                <a:solidFill>
                  <a:srgbClr val="433878"/>
                </a:solidFill>
                <a:latin typeface="Open Sans Bold"/>
                <a:ea typeface="Open Sans Bold"/>
                <a:cs typeface="Open Sans Bold"/>
                <a:sym typeface="Open Sans Bold"/>
              </a:rPr>
              <a:t>DICIEMBRE 2025</a:t>
            </a:r>
          </a:p>
        </p:txBody>
      </p:sp>
      <p:sp>
        <p:nvSpPr>
          <p:cNvPr name="TextBox 21" id="21"/>
          <p:cNvSpPr txBox="true"/>
          <p:nvPr/>
        </p:nvSpPr>
        <p:spPr>
          <a:xfrm rot="0">
            <a:off x="12816348" y="8221811"/>
            <a:ext cx="4862544" cy="1223010"/>
          </a:xfrm>
          <a:prstGeom prst="rect">
            <a:avLst/>
          </a:prstGeom>
        </p:spPr>
        <p:txBody>
          <a:bodyPr anchor="t" rtlCol="false" tIns="0" lIns="0" bIns="0" rIns="0">
            <a:spAutoFit/>
          </a:bodyPr>
          <a:lstStyle/>
          <a:p>
            <a:pPr algn="l">
              <a:lnSpc>
                <a:spcPts val="2415"/>
              </a:lnSpc>
            </a:pPr>
            <a:r>
              <a:rPr lang="en-US" sz="2100" spc="315" b="true">
                <a:solidFill>
                  <a:srgbClr val="433878"/>
                </a:solidFill>
                <a:latin typeface="Open Sans Medium"/>
                <a:ea typeface="Open Sans Medium"/>
                <a:cs typeface="Open Sans Medium"/>
                <a:sym typeface="Open Sans Medium"/>
              </a:rPr>
              <a:t>Macarena Bertero</a:t>
            </a:r>
          </a:p>
          <a:p>
            <a:pPr algn="l">
              <a:lnSpc>
                <a:spcPts val="2415"/>
              </a:lnSpc>
            </a:pPr>
            <a:r>
              <a:rPr lang="en-US" sz="2100" spc="315" b="true">
                <a:solidFill>
                  <a:srgbClr val="433878"/>
                </a:solidFill>
                <a:latin typeface="Open Sans Medium"/>
                <a:ea typeface="Open Sans Medium"/>
                <a:cs typeface="Open Sans Medium"/>
                <a:sym typeface="Open Sans Medium"/>
              </a:rPr>
              <a:t>Ignacio León </a:t>
            </a:r>
          </a:p>
          <a:p>
            <a:pPr algn="l">
              <a:lnSpc>
                <a:spcPts val="2415"/>
              </a:lnSpc>
            </a:pPr>
            <a:r>
              <a:rPr lang="en-US" sz="2100" spc="315" b="true">
                <a:solidFill>
                  <a:srgbClr val="433878"/>
                </a:solidFill>
                <a:latin typeface="Open Sans Medium"/>
                <a:ea typeface="Open Sans Medium"/>
                <a:cs typeface="Open Sans Medium"/>
                <a:sym typeface="Open Sans Medium"/>
              </a:rPr>
              <a:t>Claudio Valencia</a:t>
            </a:r>
          </a:p>
          <a:p>
            <a:pPr algn="l">
              <a:lnSpc>
                <a:spcPts val="2415"/>
              </a:lnSpc>
              <a:spcBef>
                <a:spcPct val="0"/>
              </a:spcBef>
            </a:pPr>
          </a:p>
        </p:txBody>
      </p:sp>
      <p:grpSp>
        <p:nvGrpSpPr>
          <p:cNvPr name="Group 22" id="22"/>
          <p:cNvGrpSpPr/>
          <p:nvPr/>
        </p:nvGrpSpPr>
        <p:grpSpPr>
          <a:xfrm rot="0">
            <a:off x="14526577" y="5795962"/>
            <a:ext cx="564832" cy="233362"/>
            <a:chOff x="0" y="0"/>
            <a:chExt cx="753110" cy="311150"/>
          </a:xfrm>
        </p:grpSpPr>
        <p:sp>
          <p:nvSpPr>
            <p:cNvPr name="Freeform 23" id="23"/>
            <p:cNvSpPr/>
            <p:nvPr/>
          </p:nvSpPr>
          <p:spPr>
            <a:xfrm flipH="false" flipV="false" rot="0">
              <a:off x="49804" y="43102"/>
              <a:ext cx="651324" cy="227985"/>
            </a:xfrm>
            <a:custGeom>
              <a:avLst/>
              <a:gdLst/>
              <a:ahLst/>
              <a:cxnLst/>
              <a:rect r="r" b="b" t="t" l="l"/>
              <a:pathLst>
                <a:path h="227985" w="651324">
                  <a:moveTo>
                    <a:pt x="384536" y="195658"/>
                  </a:moveTo>
                  <a:cubicBezTo>
                    <a:pt x="68306" y="175338"/>
                    <a:pt x="54336" y="148668"/>
                    <a:pt x="50526" y="127078"/>
                  </a:cubicBezTo>
                  <a:cubicBezTo>
                    <a:pt x="47986" y="105488"/>
                    <a:pt x="63226" y="71198"/>
                    <a:pt x="78466" y="55958"/>
                  </a:cubicBezTo>
                  <a:cubicBezTo>
                    <a:pt x="91166" y="43258"/>
                    <a:pt x="103866" y="40718"/>
                    <a:pt x="131806" y="35638"/>
                  </a:cubicBezTo>
                  <a:cubicBezTo>
                    <a:pt x="209276" y="21668"/>
                    <a:pt x="520426" y="10238"/>
                    <a:pt x="589006" y="40718"/>
                  </a:cubicBezTo>
                  <a:cubicBezTo>
                    <a:pt x="613136" y="52148"/>
                    <a:pt x="622026" y="71198"/>
                    <a:pt x="629646" y="86438"/>
                  </a:cubicBezTo>
                  <a:cubicBezTo>
                    <a:pt x="634726" y="100408"/>
                    <a:pt x="635996" y="114378"/>
                    <a:pt x="634726" y="127078"/>
                  </a:cubicBezTo>
                  <a:cubicBezTo>
                    <a:pt x="632186" y="141048"/>
                    <a:pt x="628376" y="155018"/>
                    <a:pt x="619486" y="166448"/>
                  </a:cubicBezTo>
                  <a:cubicBezTo>
                    <a:pt x="609326" y="180418"/>
                    <a:pt x="590276" y="193118"/>
                    <a:pt x="569956" y="200738"/>
                  </a:cubicBezTo>
                  <a:cubicBezTo>
                    <a:pt x="540746" y="210898"/>
                    <a:pt x="508996" y="209628"/>
                    <a:pt x="460736" y="212168"/>
                  </a:cubicBezTo>
                  <a:cubicBezTo>
                    <a:pt x="371836" y="217248"/>
                    <a:pt x="131806" y="227408"/>
                    <a:pt x="72116" y="212168"/>
                  </a:cubicBezTo>
                  <a:cubicBezTo>
                    <a:pt x="51796" y="207088"/>
                    <a:pt x="44176" y="202008"/>
                    <a:pt x="34016" y="193118"/>
                  </a:cubicBezTo>
                  <a:cubicBezTo>
                    <a:pt x="23856" y="184228"/>
                    <a:pt x="14966" y="172798"/>
                    <a:pt x="9886" y="157558"/>
                  </a:cubicBezTo>
                  <a:cubicBezTo>
                    <a:pt x="4806" y="141048"/>
                    <a:pt x="3536" y="113108"/>
                    <a:pt x="9886" y="95328"/>
                  </a:cubicBezTo>
                  <a:cubicBezTo>
                    <a:pt x="17506" y="76278"/>
                    <a:pt x="36556" y="57228"/>
                    <a:pt x="51796" y="48338"/>
                  </a:cubicBezTo>
                  <a:cubicBezTo>
                    <a:pt x="64496" y="40718"/>
                    <a:pt x="72116" y="40718"/>
                    <a:pt x="92436" y="38178"/>
                  </a:cubicBezTo>
                  <a:cubicBezTo>
                    <a:pt x="161016" y="30558"/>
                    <a:pt x="453116" y="16588"/>
                    <a:pt x="526776" y="39448"/>
                  </a:cubicBezTo>
                  <a:cubicBezTo>
                    <a:pt x="554716" y="48338"/>
                    <a:pt x="567416" y="59768"/>
                    <a:pt x="578846" y="75008"/>
                  </a:cubicBezTo>
                  <a:cubicBezTo>
                    <a:pt x="590276" y="91518"/>
                    <a:pt x="596626" y="118188"/>
                    <a:pt x="594086" y="137238"/>
                  </a:cubicBezTo>
                  <a:cubicBezTo>
                    <a:pt x="591546" y="157558"/>
                    <a:pt x="578846" y="180418"/>
                    <a:pt x="564876" y="194388"/>
                  </a:cubicBezTo>
                  <a:cubicBezTo>
                    <a:pt x="549636" y="207088"/>
                    <a:pt x="534396" y="210898"/>
                    <a:pt x="505186" y="215978"/>
                  </a:cubicBezTo>
                  <a:cubicBezTo>
                    <a:pt x="426446" y="229948"/>
                    <a:pt x="134346" y="222328"/>
                    <a:pt x="69576" y="204548"/>
                  </a:cubicBezTo>
                  <a:cubicBezTo>
                    <a:pt x="49256" y="199468"/>
                    <a:pt x="41636" y="194388"/>
                    <a:pt x="31476" y="184228"/>
                  </a:cubicBezTo>
                  <a:cubicBezTo>
                    <a:pt x="20046" y="175338"/>
                    <a:pt x="11156" y="162638"/>
                    <a:pt x="6076" y="148668"/>
                  </a:cubicBezTo>
                  <a:cubicBezTo>
                    <a:pt x="996" y="135968"/>
                    <a:pt x="-1544" y="120728"/>
                    <a:pt x="996" y="106758"/>
                  </a:cubicBezTo>
                  <a:cubicBezTo>
                    <a:pt x="4806" y="87708"/>
                    <a:pt x="16236" y="62308"/>
                    <a:pt x="31476" y="49608"/>
                  </a:cubicBezTo>
                  <a:cubicBezTo>
                    <a:pt x="45446" y="36908"/>
                    <a:pt x="64496" y="31828"/>
                    <a:pt x="91166" y="26748"/>
                  </a:cubicBezTo>
                  <a:cubicBezTo>
                    <a:pt x="138156" y="16588"/>
                    <a:pt x="221976" y="19128"/>
                    <a:pt x="298176" y="17858"/>
                  </a:cubicBezTo>
                  <a:cubicBezTo>
                    <a:pt x="388346" y="17858"/>
                    <a:pt x="544556" y="2618"/>
                    <a:pt x="597896" y="28018"/>
                  </a:cubicBezTo>
                  <a:cubicBezTo>
                    <a:pt x="622026" y="39448"/>
                    <a:pt x="632186" y="58498"/>
                    <a:pt x="639806" y="76278"/>
                  </a:cubicBezTo>
                  <a:cubicBezTo>
                    <a:pt x="646156" y="88978"/>
                    <a:pt x="648696" y="104218"/>
                    <a:pt x="644886" y="118188"/>
                  </a:cubicBezTo>
                  <a:cubicBezTo>
                    <a:pt x="642346" y="137238"/>
                    <a:pt x="630916" y="162638"/>
                    <a:pt x="615676" y="175338"/>
                  </a:cubicBezTo>
                  <a:cubicBezTo>
                    <a:pt x="600436" y="189308"/>
                    <a:pt x="585196" y="193118"/>
                    <a:pt x="555986" y="198198"/>
                  </a:cubicBezTo>
                  <a:cubicBezTo>
                    <a:pt x="473436" y="212168"/>
                    <a:pt x="163556" y="212168"/>
                    <a:pt x="87356" y="185498"/>
                  </a:cubicBezTo>
                  <a:cubicBezTo>
                    <a:pt x="59416" y="175338"/>
                    <a:pt x="46716" y="161368"/>
                    <a:pt x="36556" y="147398"/>
                  </a:cubicBezTo>
                  <a:cubicBezTo>
                    <a:pt x="27666" y="134698"/>
                    <a:pt x="23856" y="119458"/>
                    <a:pt x="22586" y="105488"/>
                  </a:cubicBezTo>
                  <a:cubicBezTo>
                    <a:pt x="21316" y="91518"/>
                    <a:pt x="23856" y="76278"/>
                    <a:pt x="28936" y="63578"/>
                  </a:cubicBezTo>
                  <a:cubicBezTo>
                    <a:pt x="35286" y="49608"/>
                    <a:pt x="42906" y="36908"/>
                    <a:pt x="55606" y="28018"/>
                  </a:cubicBezTo>
                  <a:cubicBezTo>
                    <a:pt x="69576" y="17858"/>
                    <a:pt x="86086" y="12778"/>
                    <a:pt x="116566" y="7698"/>
                  </a:cubicBezTo>
                  <a:cubicBezTo>
                    <a:pt x="196576" y="-3732"/>
                    <a:pt x="487406" y="-3732"/>
                    <a:pt x="571226" y="16588"/>
                  </a:cubicBezTo>
                  <a:cubicBezTo>
                    <a:pt x="604246" y="25478"/>
                    <a:pt x="624566" y="34368"/>
                    <a:pt x="637266" y="52148"/>
                  </a:cubicBezTo>
                  <a:cubicBezTo>
                    <a:pt x="649966" y="71198"/>
                    <a:pt x="655046" y="106758"/>
                    <a:pt x="647426" y="127078"/>
                  </a:cubicBezTo>
                  <a:cubicBezTo>
                    <a:pt x="638536" y="148668"/>
                    <a:pt x="620756" y="165178"/>
                    <a:pt x="590276" y="177878"/>
                  </a:cubicBezTo>
                  <a:cubicBezTo>
                    <a:pt x="516616" y="205818"/>
                    <a:pt x="232136" y="194388"/>
                    <a:pt x="158476" y="182958"/>
                  </a:cubicBezTo>
                  <a:cubicBezTo>
                    <a:pt x="133076" y="179148"/>
                    <a:pt x="121646" y="176608"/>
                    <a:pt x="107676" y="166448"/>
                  </a:cubicBezTo>
                  <a:cubicBezTo>
                    <a:pt x="93706" y="155018"/>
                    <a:pt x="81006" y="138508"/>
                    <a:pt x="77196" y="120728"/>
                  </a:cubicBezTo>
                  <a:cubicBezTo>
                    <a:pt x="73386" y="99138"/>
                    <a:pt x="79736" y="61038"/>
                    <a:pt x="94976" y="43258"/>
                  </a:cubicBezTo>
                  <a:cubicBezTo>
                    <a:pt x="108946" y="25478"/>
                    <a:pt x="145776" y="14048"/>
                    <a:pt x="168636" y="14048"/>
                  </a:cubicBezTo>
                  <a:cubicBezTo>
                    <a:pt x="186416" y="14048"/>
                    <a:pt x="205466" y="25478"/>
                    <a:pt x="216896" y="36908"/>
                  </a:cubicBezTo>
                  <a:cubicBezTo>
                    <a:pt x="229596" y="48338"/>
                    <a:pt x="239756" y="67388"/>
                    <a:pt x="242296" y="85168"/>
                  </a:cubicBezTo>
                  <a:cubicBezTo>
                    <a:pt x="244836" y="101678"/>
                    <a:pt x="242296" y="123268"/>
                    <a:pt x="233406" y="138508"/>
                  </a:cubicBezTo>
                  <a:cubicBezTo>
                    <a:pt x="225786" y="153748"/>
                    <a:pt x="211816" y="168988"/>
                    <a:pt x="194036" y="175338"/>
                  </a:cubicBezTo>
                  <a:cubicBezTo>
                    <a:pt x="173716" y="182958"/>
                    <a:pt x="135616" y="180418"/>
                    <a:pt x="115296" y="171528"/>
                  </a:cubicBezTo>
                  <a:cubicBezTo>
                    <a:pt x="98786" y="162638"/>
                    <a:pt x="86086" y="146128"/>
                    <a:pt x="79736" y="129618"/>
                  </a:cubicBezTo>
                  <a:cubicBezTo>
                    <a:pt x="73386" y="114378"/>
                    <a:pt x="70846" y="92788"/>
                    <a:pt x="77196" y="76278"/>
                  </a:cubicBezTo>
                  <a:cubicBezTo>
                    <a:pt x="84816" y="54688"/>
                    <a:pt x="100056" y="31828"/>
                    <a:pt x="131806" y="17858"/>
                  </a:cubicBezTo>
                  <a:cubicBezTo>
                    <a:pt x="205466" y="-13892"/>
                    <a:pt x="495026" y="3888"/>
                    <a:pt x="571226" y="16588"/>
                  </a:cubicBezTo>
                  <a:cubicBezTo>
                    <a:pt x="597896" y="21668"/>
                    <a:pt x="611866" y="24208"/>
                    <a:pt x="624566" y="36908"/>
                  </a:cubicBezTo>
                  <a:cubicBezTo>
                    <a:pt x="639806" y="52148"/>
                    <a:pt x="652506" y="86438"/>
                    <a:pt x="651236" y="108028"/>
                  </a:cubicBezTo>
                  <a:cubicBezTo>
                    <a:pt x="649966" y="127078"/>
                    <a:pt x="635996" y="147398"/>
                    <a:pt x="624566" y="160098"/>
                  </a:cubicBezTo>
                  <a:cubicBezTo>
                    <a:pt x="615676" y="168988"/>
                    <a:pt x="609326" y="172798"/>
                    <a:pt x="590276" y="177878"/>
                  </a:cubicBezTo>
                  <a:cubicBezTo>
                    <a:pt x="522966" y="194388"/>
                    <a:pt x="191496" y="204548"/>
                    <a:pt x="108946" y="189308"/>
                  </a:cubicBezTo>
                  <a:cubicBezTo>
                    <a:pt x="78466" y="182958"/>
                    <a:pt x="64496" y="177878"/>
                    <a:pt x="49256" y="163908"/>
                  </a:cubicBezTo>
                  <a:cubicBezTo>
                    <a:pt x="35286" y="149938"/>
                    <a:pt x="23856" y="125808"/>
                    <a:pt x="22586" y="105488"/>
                  </a:cubicBezTo>
                  <a:cubicBezTo>
                    <a:pt x="20046" y="86438"/>
                    <a:pt x="30206" y="59768"/>
                    <a:pt x="40366" y="44528"/>
                  </a:cubicBezTo>
                  <a:cubicBezTo>
                    <a:pt x="47986" y="31828"/>
                    <a:pt x="60686" y="22938"/>
                    <a:pt x="73386" y="16588"/>
                  </a:cubicBezTo>
                  <a:cubicBezTo>
                    <a:pt x="86086" y="10238"/>
                    <a:pt x="94976" y="10238"/>
                    <a:pt x="116566" y="7698"/>
                  </a:cubicBezTo>
                  <a:cubicBezTo>
                    <a:pt x="185146" y="1348"/>
                    <a:pt x="477246" y="2618"/>
                    <a:pt x="555986" y="17858"/>
                  </a:cubicBezTo>
                  <a:cubicBezTo>
                    <a:pt x="585196" y="22938"/>
                    <a:pt x="601706" y="29288"/>
                    <a:pt x="615676" y="40718"/>
                  </a:cubicBezTo>
                  <a:cubicBezTo>
                    <a:pt x="627106" y="49608"/>
                    <a:pt x="634726" y="62308"/>
                    <a:pt x="639806" y="76278"/>
                  </a:cubicBezTo>
                  <a:cubicBezTo>
                    <a:pt x="644886" y="88978"/>
                    <a:pt x="648696" y="104218"/>
                    <a:pt x="644886" y="118188"/>
                  </a:cubicBezTo>
                  <a:cubicBezTo>
                    <a:pt x="642346" y="137238"/>
                    <a:pt x="628376" y="162638"/>
                    <a:pt x="615676" y="175338"/>
                  </a:cubicBezTo>
                  <a:cubicBezTo>
                    <a:pt x="604246" y="186768"/>
                    <a:pt x="596626" y="190578"/>
                    <a:pt x="577576" y="195658"/>
                  </a:cubicBezTo>
                  <a:cubicBezTo>
                    <a:pt x="534396" y="205818"/>
                    <a:pt x="416286" y="203278"/>
                    <a:pt x="359136" y="196928"/>
                  </a:cubicBezTo>
                  <a:cubicBezTo>
                    <a:pt x="322306" y="193118"/>
                    <a:pt x="298176" y="175338"/>
                    <a:pt x="268966" y="177878"/>
                  </a:cubicBezTo>
                  <a:cubicBezTo>
                    <a:pt x="239756" y="179148"/>
                    <a:pt x="213086" y="202008"/>
                    <a:pt x="183876" y="207088"/>
                  </a:cubicBezTo>
                  <a:cubicBezTo>
                    <a:pt x="153396" y="212168"/>
                    <a:pt x="117836" y="212168"/>
                    <a:pt x="91166" y="207088"/>
                  </a:cubicBezTo>
                  <a:cubicBezTo>
                    <a:pt x="68306" y="203278"/>
                    <a:pt x="45446" y="195658"/>
                    <a:pt x="31476" y="184228"/>
                  </a:cubicBezTo>
                  <a:cubicBezTo>
                    <a:pt x="18776" y="175338"/>
                    <a:pt x="11156" y="163908"/>
                    <a:pt x="6076" y="148668"/>
                  </a:cubicBezTo>
                  <a:cubicBezTo>
                    <a:pt x="996" y="132158"/>
                    <a:pt x="-274" y="104218"/>
                    <a:pt x="6076" y="85168"/>
                  </a:cubicBezTo>
                  <a:cubicBezTo>
                    <a:pt x="13696" y="66118"/>
                    <a:pt x="32746" y="47068"/>
                    <a:pt x="49256" y="36908"/>
                  </a:cubicBezTo>
                  <a:cubicBezTo>
                    <a:pt x="61956" y="29288"/>
                    <a:pt x="69576" y="29288"/>
                    <a:pt x="91166" y="26748"/>
                  </a:cubicBezTo>
                  <a:cubicBezTo>
                    <a:pt x="157206" y="19128"/>
                    <a:pt x="428986" y="21668"/>
                    <a:pt x="505186" y="36908"/>
                  </a:cubicBezTo>
                  <a:cubicBezTo>
                    <a:pt x="534396" y="41988"/>
                    <a:pt x="549636" y="48338"/>
                    <a:pt x="564876" y="59768"/>
                  </a:cubicBezTo>
                  <a:cubicBezTo>
                    <a:pt x="576306" y="68658"/>
                    <a:pt x="583926" y="81358"/>
                    <a:pt x="589006" y="95328"/>
                  </a:cubicBezTo>
                  <a:cubicBezTo>
                    <a:pt x="594086" y="108028"/>
                    <a:pt x="595356" y="123268"/>
                    <a:pt x="594086" y="137238"/>
                  </a:cubicBezTo>
                  <a:cubicBezTo>
                    <a:pt x="592816" y="151208"/>
                    <a:pt x="587736" y="166448"/>
                    <a:pt x="578846" y="177878"/>
                  </a:cubicBezTo>
                  <a:cubicBezTo>
                    <a:pt x="567416" y="191848"/>
                    <a:pt x="554716" y="204548"/>
                    <a:pt x="526776" y="213438"/>
                  </a:cubicBezTo>
                  <a:cubicBezTo>
                    <a:pt x="453116" y="236298"/>
                    <a:pt x="169906" y="228678"/>
                    <a:pt x="92436" y="214708"/>
                  </a:cubicBezTo>
                  <a:cubicBezTo>
                    <a:pt x="63226" y="209628"/>
                    <a:pt x="49256" y="205818"/>
                    <a:pt x="34016" y="193118"/>
                  </a:cubicBezTo>
                  <a:cubicBezTo>
                    <a:pt x="20046" y="180418"/>
                    <a:pt x="7346" y="156288"/>
                    <a:pt x="4806" y="137238"/>
                  </a:cubicBezTo>
                  <a:cubicBezTo>
                    <a:pt x="2266" y="118188"/>
                    <a:pt x="8616" y="92788"/>
                    <a:pt x="20046" y="76278"/>
                  </a:cubicBezTo>
                  <a:cubicBezTo>
                    <a:pt x="31476" y="59768"/>
                    <a:pt x="44176" y="49608"/>
                    <a:pt x="72116" y="40718"/>
                  </a:cubicBezTo>
                  <a:cubicBezTo>
                    <a:pt x="148316" y="15318"/>
                    <a:pt x="477246" y="22938"/>
                    <a:pt x="548366" y="30558"/>
                  </a:cubicBezTo>
                  <a:cubicBezTo>
                    <a:pt x="569956" y="33098"/>
                    <a:pt x="576306" y="33098"/>
                    <a:pt x="589006" y="40718"/>
                  </a:cubicBezTo>
                  <a:cubicBezTo>
                    <a:pt x="604246" y="49608"/>
                    <a:pt x="622026" y="68658"/>
                    <a:pt x="629646" y="86438"/>
                  </a:cubicBezTo>
                  <a:cubicBezTo>
                    <a:pt x="635996" y="104218"/>
                    <a:pt x="635996" y="129618"/>
                    <a:pt x="629646" y="147398"/>
                  </a:cubicBezTo>
                  <a:cubicBezTo>
                    <a:pt x="622026" y="165178"/>
                    <a:pt x="604246" y="184228"/>
                    <a:pt x="589006" y="193118"/>
                  </a:cubicBezTo>
                  <a:cubicBezTo>
                    <a:pt x="576306" y="200738"/>
                    <a:pt x="569956" y="200738"/>
                    <a:pt x="548366" y="203278"/>
                  </a:cubicBezTo>
                  <a:cubicBezTo>
                    <a:pt x="481056" y="210898"/>
                    <a:pt x="182606" y="218518"/>
                    <a:pt x="112756" y="195658"/>
                  </a:cubicBezTo>
                  <a:cubicBezTo>
                    <a:pt x="86086" y="188038"/>
                    <a:pt x="74656" y="176608"/>
                    <a:pt x="64496" y="163908"/>
                  </a:cubicBezTo>
                  <a:cubicBezTo>
                    <a:pt x="56876" y="152478"/>
                    <a:pt x="50526" y="141048"/>
                    <a:pt x="50526" y="127078"/>
                  </a:cubicBezTo>
                  <a:cubicBezTo>
                    <a:pt x="50526" y="106758"/>
                    <a:pt x="63226" y="71198"/>
                    <a:pt x="78466" y="55958"/>
                  </a:cubicBezTo>
                  <a:cubicBezTo>
                    <a:pt x="91166" y="43258"/>
                    <a:pt x="106406" y="40718"/>
                    <a:pt x="131806" y="35638"/>
                  </a:cubicBezTo>
                  <a:cubicBezTo>
                    <a:pt x="188956" y="26748"/>
                    <a:pt x="371836" y="24208"/>
                    <a:pt x="420096" y="48338"/>
                  </a:cubicBezTo>
                  <a:cubicBezTo>
                    <a:pt x="441686" y="58498"/>
                    <a:pt x="451846" y="73738"/>
                    <a:pt x="456926" y="88978"/>
                  </a:cubicBezTo>
                  <a:cubicBezTo>
                    <a:pt x="463276" y="105488"/>
                    <a:pt x="462006" y="129618"/>
                    <a:pt x="456926" y="144858"/>
                  </a:cubicBezTo>
                  <a:cubicBezTo>
                    <a:pt x="453116" y="157558"/>
                    <a:pt x="446766" y="167718"/>
                    <a:pt x="436606" y="175338"/>
                  </a:cubicBezTo>
                  <a:cubicBezTo>
                    <a:pt x="423906" y="185498"/>
                    <a:pt x="384536" y="195658"/>
                    <a:pt x="384536" y="195658"/>
                  </a:cubicBezTo>
                </a:path>
              </a:pathLst>
            </a:custGeom>
            <a:solidFill>
              <a:srgbClr val="FFFFFF"/>
            </a:solidFill>
            <a:ln cap="sq">
              <a:noFill/>
              <a:prstDash val="solid"/>
              <a:miter/>
            </a:ln>
          </p:spPr>
        </p:sp>
      </p:grpSp>
      <p:grpSp>
        <p:nvGrpSpPr>
          <p:cNvPr name="Group 24" id="24"/>
          <p:cNvGrpSpPr/>
          <p:nvPr/>
        </p:nvGrpSpPr>
        <p:grpSpPr>
          <a:xfrm rot="0">
            <a:off x="13830300" y="5783580"/>
            <a:ext cx="467678" cy="248603"/>
            <a:chOff x="0" y="0"/>
            <a:chExt cx="623570" cy="331470"/>
          </a:xfrm>
        </p:grpSpPr>
        <p:sp>
          <p:nvSpPr>
            <p:cNvPr name="Freeform 25" id="25"/>
            <p:cNvSpPr/>
            <p:nvPr/>
          </p:nvSpPr>
          <p:spPr>
            <a:xfrm flipH="false" flipV="false" rot="0">
              <a:off x="50476" y="50689"/>
              <a:ext cx="522975" cy="231945"/>
            </a:xfrm>
            <a:custGeom>
              <a:avLst/>
              <a:gdLst/>
              <a:ahLst/>
              <a:cxnLst/>
              <a:rect r="r" b="b" t="t" l="l"/>
              <a:pathLst>
                <a:path h="231945" w="522975">
                  <a:moveTo>
                    <a:pt x="310204" y="221091"/>
                  </a:moveTo>
                  <a:cubicBezTo>
                    <a:pt x="9214" y="124571"/>
                    <a:pt x="1594" y="108061"/>
                    <a:pt x="324" y="90281"/>
                  </a:cubicBezTo>
                  <a:cubicBezTo>
                    <a:pt x="-946" y="68691"/>
                    <a:pt x="11754" y="35671"/>
                    <a:pt x="26994" y="20431"/>
                  </a:cubicBezTo>
                  <a:cubicBezTo>
                    <a:pt x="39694" y="7731"/>
                    <a:pt x="56204" y="1381"/>
                    <a:pt x="80334" y="111"/>
                  </a:cubicBezTo>
                  <a:cubicBezTo>
                    <a:pt x="126054" y="-2429"/>
                    <a:pt x="217494" y="39481"/>
                    <a:pt x="286074" y="50911"/>
                  </a:cubicBezTo>
                  <a:cubicBezTo>
                    <a:pt x="350844" y="62341"/>
                    <a:pt x="441014" y="50911"/>
                    <a:pt x="479114" y="71231"/>
                  </a:cubicBezTo>
                  <a:cubicBezTo>
                    <a:pt x="499434" y="82661"/>
                    <a:pt x="510864" y="99171"/>
                    <a:pt x="517214" y="115681"/>
                  </a:cubicBezTo>
                  <a:cubicBezTo>
                    <a:pt x="523564" y="133461"/>
                    <a:pt x="523564" y="158861"/>
                    <a:pt x="517214" y="175371"/>
                  </a:cubicBezTo>
                  <a:cubicBezTo>
                    <a:pt x="510864" y="193151"/>
                    <a:pt x="491814" y="210931"/>
                    <a:pt x="476574" y="219821"/>
                  </a:cubicBezTo>
                  <a:cubicBezTo>
                    <a:pt x="465144" y="226171"/>
                    <a:pt x="452444" y="229981"/>
                    <a:pt x="438474" y="228711"/>
                  </a:cubicBezTo>
                  <a:cubicBezTo>
                    <a:pt x="418154" y="226171"/>
                    <a:pt x="383864" y="208391"/>
                    <a:pt x="369894" y="191881"/>
                  </a:cubicBezTo>
                  <a:cubicBezTo>
                    <a:pt x="358464" y="177911"/>
                    <a:pt x="353384" y="157591"/>
                    <a:pt x="355924" y="139811"/>
                  </a:cubicBezTo>
                  <a:cubicBezTo>
                    <a:pt x="358464" y="119491"/>
                    <a:pt x="376244" y="85201"/>
                    <a:pt x="396564" y="73771"/>
                  </a:cubicBezTo>
                  <a:cubicBezTo>
                    <a:pt x="415614" y="61071"/>
                    <a:pt x="453714" y="59801"/>
                    <a:pt x="474034" y="68691"/>
                  </a:cubicBezTo>
                  <a:cubicBezTo>
                    <a:pt x="495624" y="78851"/>
                    <a:pt x="518484" y="108061"/>
                    <a:pt x="522294" y="130921"/>
                  </a:cubicBezTo>
                  <a:cubicBezTo>
                    <a:pt x="526104" y="153781"/>
                    <a:pt x="513404" y="189341"/>
                    <a:pt x="496894" y="205851"/>
                  </a:cubicBezTo>
                  <a:cubicBezTo>
                    <a:pt x="480384" y="221091"/>
                    <a:pt x="443554" y="231251"/>
                    <a:pt x="420694" y="226171"/>
                  </a:cubicBezTo>
                  <a:cubicBezTo>
                    <a:pt x="399104" y="222361"/>
                    <a:pt x="369894" y="196961"/>
                    <a:pt x="361004" y="175371"/>
                  </a:cubicBezTo>
                  <a:cubicBezTo>
                    <a:pt x="353384" y="155051"/>
                    <a:pt x="359734" y="116951"/>
                    <a:pt x="369894" y="97901"/>
                  </a:cubicBezTo>
                  <a:cubicBezTo>
                    <a:pt x="378784" y="82661"/>
                    <a:pt x="396564" y="71231"/>
                    <a:pt x="411804" y="66151"/>
                  </a:cubicBezTo>
                  <a:cubicBezTo>
                    <a:pt x="427044" y="59801"/>
                    <a:pt x="446094" y="61071"/>
                    <a:pt x="460064" y="63611"/>
                  </a:cubicBezTo>
                  <a:cubicBezTo>
                    <a:pt x="472764" y="67421"/>
                    <a:pt x="485464" y="73771"/>
                    <a:pt x="495624" y="82661"/>
                  </a:cubicBezTo>
                  <a:cubicBezTo>
                    <a:pt x="504514" y="91551"/>
                    <a:pt x="513404" y="104251"/>
                    <a:pt x="517214" y="115681"/>
                  </a:cubicBezTo>
                  <a:cubicBezTo>
                    <a:pt x="522294" y="128381"/>
                    <a:pt x="523564" y="143621"/>
                    <a:pt x="522294" y="156321"/>
                  </a:cubicBezTo>
                  <a:cubicBezTo>
                    <a:pt x="519754" y="169021"/>
                    <a:pt x="515944" y="182991"/>
                    <a:pt x="507054" y="193151"/>
                  </a:cubicBezTo>
                  <a:cubicBezTo>
                    <a:pt x="496894" y="207121"/>
                    <a:pt x="479114" y="219821"/>
                    <a:pt x="457524" y="226171"/>
                  </a:cubicBezTo>
                  <a:cubicBezTo>
                    <a:pt x="427044" y="236331"/>
                    <a:pt x="382594" y="231251"/>
                    <a:pt x="333064" y="224901"/>
                  </a:cubicBezTo>
                  <a:cubicBezTo>
                    <a:pt x="255594" y="214741"/>
                    <a:pt x="94304" y="186801"/>
                    <a:pt x="43504" y="151241"/>
                  </a:cubicBezTo>
                  <a:cubicBezTo>
                    <a:pt x="18104" y="133461"/>
                    <a:pt x="4134" y="111871"/>
                    <a:pt x="324" y="90281"/>
                  </a:cubicBezTo>
                  <a:cubicBezTo>
                    <a:pt x="-2216" y="68691"/>
                    <a:pt x="10484" y="34401"/>
                    <a:pt x="26994" y="20431"/>
                  </a:cubicBezTo>
                  <a:cubicBezTo>
                    <a:pt x="43504" y="5191"/>
                    <a:pt x="67634" y="1381"/>
                    <a:pt x="99384" y="2651"/>
                  </a:cubicBezTo>
                  <a:cubicBezTo>
                    <a:pt x="161614" y="3921"/>
                    <a:pt x="334334" y="50911"/>
                    <a:pt x="376244" y="85201"/>
                  </a:cubicBezTo>
                  <a:cubicBezTo>
                    <a:pt x="395294" y="100441"/>
                    <a:pt x="400374" y="115681"/>
                    <a:pt x="402914" y="133461"/>
                  </a:cubicBezTo>
                  <a:cubicBezTo>
                    <a:pt x="405454" y="149971"/>
                    <a:pt x="401644" y="172831"/>
                    <a:pt x="391484" y="186801"/>
                  </a:cubicBezTo>
                  <a:cubicBezTo>
                    <a:pt x="382594" y="202041"/>
                    <a:pt x="362274" y="214741"/>
                    <a:pt x="347034" y="219821"/>
                  </a:cubicBezTo>
                  <a:cubicBezTo>
                    <a:pt x="335604" y="223631"/>
                    <a:pt x="310204" y="221091"/>
                    <a:pt x="310204" y="221091"/>
                  </a:cubicBezTo>
                </a:path>
              </a:pathLst>
            </a:custGeom>
            <a:solidFill>
              <a:srgbClr val="FFFFFF"/>
            </a:solidFill>
            <a:ln cap="sq">
              <a:noFill/>
              <a:prstDash val="solid"/>
              <a:miter/>
            </a:ln>
          </p:spPr>
        </p:sp>
      </p:grpSp>
      <p:grpSp>
        <p:nvGrpSpPr>
          <p:cNvPr name="Group 26" id="26"/>
          <p:cNvGrpSpPr/>
          <p:nvPr/>
        </p:nvGrpSpPr>
        <p:grpSpPr>
          <a:xfrm rot="0">
            <a:off x="13683615" y="5757862"/>
            <a:ext cx="1564005" cy="353378"/>
            <a:chOff x="0" y="0"/>
            <a:chExt cx="2085340" cy="471170"/>
          </a:xfrm>
        </p:grpSpPr>
        <p:sp>
          <p:nvSpPr>
            <p:cNvPr name="Freeform 27" id="27"/>
            <p:cNvSpPr/>
            <p:nvPr/>
          </p:nvSpPr>
          <p:spPr>
            <a:xfrm flipH="false" flipV="false" rot="0">
              <a:off x="48487" y="47136"/>
              <a:ext cx="1985343" cy="371964"/>
            </a:xfrm>
            <a:custGeom>
              <a:avLst/>
              <a:gdLst/>
              <a:ahLst/>
              <a:cxnLst/>
              <a:rect r="r" b="b" t="t" l="l"/>
              <a:pathLst>
                <a:path h="371964" w="1985343">
                  <a:moveTo>
                    <a:pt x="220753" y="371964"/>
                  </a:moveTo>
                  <a:cubicBezTo>
                    <a:pt x="26443" y="302114"/>
                    <a:pt x="17553" y="277984"/>
                    <a:pt x="8663" y="252584"/>
                  </a:cubicBezTo>
                  <a:cubicBezTo>
                    <a:pt x="1043" y="225914"/>
                    <a:pt x="-2767" y="192894"/>
                    <a:pt x="2313" y="164954"/>
                  </a:cubicBezTo>
                  <a:cubicBezTo>
                    <a:pt x="7393" y="133204"/>
                    <a:pt x="18823" y="95104"/>
                    <a:pt x="45493" y="70974"/>
                  </a:cubicBezTo>
                  <a:cubicBezTo>
                    <a:pt x="78513" y="40494"/>
                    <a:pt x="155983" y="27794"/>
                    <a:pt x="201703" y="16364"/>
                  </a:cubicBezTo>
                  <a:cubicBezTo>
                    <a:pt x="234723" y="8744"/>
                    <a:pt x="246153" y="8744"/>
                    <a:pt x="290603" y="4934"/>
                  </a:cubicBezTo>
                  <a:cubicBezTo>
                    <a:pt x="416333" y="-2686"/>
                    <a:pt x="892583" y="-146"/>
                    <a:pt x="1022123" y="3664"/>
                  </a:cubicBezTo>
                  <a:cubicBezTo>
                    <a:pt x="1069113" y="4934"/>
                    <a:pt x="1078003" y="3664"/>
                    <a:pt x="1117373" y="10014"/>
                  </a:cubicBezTo>
                  <a:cubicBezTo>
                    <a:pt x="1180873" y="18904"/>
                    <a:pt x="1287553" y="53194"/>
                    <a:pt x="1367563" y="67164"/>
                  </a:cubicBezTo>
                  <a:cubicBezTo>
                    <a:pt x="1437413" y="81134"/>
                    <a:pt x="1492023" y="91294"/>
                    <a:pt x="1569493" y="96374"/>
                  </a:cubicBezTo>
                  <a:cubicBezTo>
                    <a:pt x="1671093" y="102724"/>
                    <a:pt x="1859053" y="70974"/>
                    <a:pt x="1923823" y="95104"/>
                  </a:cubicBezTo>
                  <a:cubicBezTo>
                    <a:pt x="1954303" y="106534"/>
                    <a:pt x="1972083" y="124314"/>
                    <a:pt x="1979703" y="144634"/>
                  </a:cubicBezTo>
                  <a:cubicBezTo>
                    <a:pt x="1988593" y="164954"/>
                    <a:pt x="1982243" y="200514"/>
                    <a:pt x="1970813" y="219564"/>
                  </a:cubicBezTo>
                  <a:cubicBezTo>
                    <a:pt x="1961923" y="234804"/>
                    <a:pt x="1945413" y="244964"/>
                    <a:pt x="1923823" y="251314"/>
                  </a:cubicBezTo>
                  <a:cubicBezTo>
                    <a:pt x="1892073" y="261474"/>
                    <a:pt x="1824763" y="260204"/>
                    <a:pt x="1790473" y="255124"/>
                  </a:cubicBezTo>
                  <a:cubicBezTo>
                    <a:pt x="1770153" y="251314"/>
                    <a:pt x="1754913" y="247504"/>
                    <a:pt x="1742213" y="238614"/>
                  </a:cubicBezTo>
                  <a:cubicBezTo>
                    <a:pt x="1729513" y="228454"/>
                    <a:pt x="1715543" y="211944"/>
                    <a:pt x="1713003" y="195434"/>
                  </a:cubicBezTo>
                  <a:cubicBezTo>
                    <a:pt x="1709193" y="173844"/>
                    <a:pt x="1714273" y="138284"/>
                    <a:pt x="1729513" y="120504"/>
                  </a:cubicBezTo>
                  <a:cubicBezTo>
                    <a:pt x="1743483" y="103994"/>
                    <a:pt x="1777773" y="90024"/>
                    <a:pt x="1799363" y="92564"/>
                  </a:cubicBezTo>
                  <a:cubicBezTo>
                    <a:pt x="1822223" y="95104"/>
                    <a:pt x="1852703" y="115424"/>
                    <a:pt x="1862863" y="135744"/>
                  </a:cubicBezTo>
                  <a:cubicBezTo>
                    <a:pt x="1873023" y="154794"/>
                    <a:pt x="1873023" y="191624"/>
                    <a:pt x="1862863" y="211944"/>
                  </a:cubicBezTo>
                  <a:cubicBezTo>
                    <a:pt x="1852703" y="230994"/>
                    <a:pt x="1820953" y="250044"/>
                    <a:pt x="1799363" y="253854"/>
                  </a:cubicBezTo>
                  <a:cubicBezTo>
                    <a:pt x="1782853" y="257664"/>
                    <a:pt x="1763803" y="251314"/>
                    <a:pt x="1749833" y="242424"/>
                  </a:cubicBezTo>
                  <a:cubicBezTo>
                    <a:pt x="1734593" y="234804"/>
                    <a:pt x="1720623" y="219564"/>
                    <a:pt x="1715543" y="203054"/>
                  </a:cubicBezTo>
                  <a:cubicBezTo>
                    <a:pt x="1709193" y="182734"/>
                    <a:pt x="1711733" y="145904"/>
                    <a:pt x="1724433" y="128124"/>
                  </a:cubicBezTo>
                  <a:cubicBezTo>
                    <a:pt x="1735863" y="109074"/>
                    <a:pt x="1763803" y="98914"/>
                    <a:pt x="1790473" y="92564"/>
                  </a:cubicBezTo>
                  <a:cubicBezTo>
                    <a:pt x="1827303" y="83674"/>
                    <a:pt x="1892073" y="84944"/>
                    <a:pt x="1923823" y="95104"/>
                  </a:cubicBezTo>
                  <a:cubicBezTo>
                    <a:pt x="1945413" y="101454"/>
                    <a:pt x="1960653" y="112884"/>
                    <a:pt x="1970813" y="128124"/>
                  </a:cubicBezTo>
                  <a:cubicBezTo>
                    <a:pt x="1980973" y="142094"/>
                    <a:pt x="1987323" y="164954"/>
                    <a:pt x="1984783" y="182734"/>
                  </a:cubicBezTo>
                  <a:cubicBezTo>
                    <a:pt x="1982243" y="200514"/>
                    <a:pt x="1972083" y="222104"/>
                    <a:pt x="1958113" y="233534"/>
                  </a:cubicBezTo>
                  <a:cubicBezTo>
                    <a:pt x="1945413" y="244964"/>
                    <a:pt x="1931443" y="248774"/>
                    <a:pt x="1904773" y="253854"/>
                  </a:cubicBezTo>
                  <a:cubicBezTo>
                    <a:pt x="1840003" y="265284"/>
                    <a:pt x="1682523" y="256394"/>
                    <a:pt x="1554253" y="246234"/>
                  </a:cubicBezTo>
                  <a:cubicBezTo>
                    <a:pt x="1394233" y="233534"/>
                    <a:pt x="1216433" y="186544"/>
                    <a:pt x="1022123" y="173844"/>
                  </a:cubicBezTo>
                  <a:cubicBezTo>
                    <a:pt x="789713" y="159874"/>
                    <a:pt x="373153" y="159874"/>
                    <a:pt x="253773" y="181464"/>
                  </a:cubicBezTo>
                  <a:cubicBezTo>
                    <a:pt x="215673" y="187814"/>
                    <a:pt x="181383" y="199244"/>
                    <a:pt x="181383" y="206864"/>
                  </a:cubicBezTo>
                  <a:cubicBezTo>
                    <a:pt x="181383" y="217024"/>
                    <a:pt x="258853" y="217024"/>
                    <a:pt x="280443" y="233534"/>
                  </a:cubicBezTo>
                  <a:cubicBezTo>
                    <a:pt x="296953" y="244964"/>
                    <a:pt x="305843" y="264014"/>
                    <a:pt x="309653" y="280524"/>
                  </a:cubicBezTo>
                  <a:cubicBezTo>
                    <a:pt x="313463" y="293224"/>
                    <a:pt x="312193" y="304654"/>
                    <a:pt x="308383" y="317354"/>
                  </a:cubicBezTo>
                  <a:cubicBezTo>
                    <a:pt x="303303" y="332594"/>
                    <a:pt x="289333" y="352914"/>
                    <a:pt x="274093" y="361804"/>
                  </a:cubicBezTo>
                  <a:cubicBezTo>
                    <a:pt x="260123" y="370694"/>
                    <a:pt x="220753" y="371964"/>
                    <a:pt x="220753" y="371964"/>
                  </a:cubicBezTo>
                </a:path>
              </a:pathLst>
            </a:custGeom>
            <a:solidFill>
              <a:srgbClr val="FFFFFF"/>
            </a:solidFill>
            <a:ln cap="sq">
              <a:noFill/>
              <a:prstDash val="solid"/>
              <a:miter/>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09236" y="2462819"/>
            <a:ext cx="8928123" cy="8928123"/>
          </a:xfrm>
          <a:custGeom>
            <a:avLst/>
            <a:gdLst/>
            <a:ahLst/>
            <a:cxnLst/>
            <a:rect r="r" b="b" t="t" l="l"/>
            <a:pathLst>
              <a:path h="8928123" w="8928123">
                <a:moveTo>
                  <a:pt x="0" y="0"/>
                </a:moveTo>
                <a:lnTo>
                  <a:pt x="8928123" y="0"/>
                </a:lnTo>
                <a:lnTo>
                  <a:pt x="8928123" y="8928122"/>
                </a:lnTo>
                <a:lnTo>
                  <a:pt x="0" y="8928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6955832"/>
            <a:ext cx="5050632" cy="321978"/>
          </a:xfrm>
          <a:custGeom>
            <a:avLst/>
            <a:gdLst/>
            <a:ahLst/>
            <a:cxnLst/>
            <a:rect r="r" b="b" t="t" l="l"/>
            <a:pathLst>
              <a:path h="321978" w="5050632">
                <a:moveTo>
                  <a:pt x="0" y="0"/>
                </a:moveTo>
                <a:lnTo>
                  <a:pt x="5050632" y="0"/>
                </a:lnTo>
                <a:lnTo>
                  <a:pt x="5050632" y="321978"/>
                </a:lnTo>
                <a:lnTo>
                  <a:pt x="0" y="321978"/>
                </a:lnTo>
                <a:lnTo>
                  <a:pt x="0" y="0"/>
                </a:lnTo>
                <a:close/>
              </a:path>
            </a:pathLst>
          </a:custGeom>
          <a:blipFill>
            <a:blip r:embed="rId4"/>
            <a:stretch>
              <a:fillRect l="0" t="0" r="0" b="0"/>
            </a:stretch>
          </a:blipFill>
        </p:spPr>
      </p:sp>
      <p:sp>
        <p:nvSpPr>
          <p:cNvPr name="Freeform 4" id="4"/>
          <p:cNvSpPr/>
          <p:nvPr/>
        </p:nvSpPr>
        <p:spPr>
          <a:xfrm flipH="false" flipV="false" rot="0">
            <a:off x="6618684" y="7732830"/>
            <a:ext cx="5050632" cy="321978"/>
          </a:xfrm>
          <a:custGeom>
            <a:avLst/>
            <a:gdLst/>
            <a:ahLst/>
            <a:cxnLst/>
            <a:rect r="r" b="b" t="t" l="l"/>
            <a:pathLst>
              <a:path h="321978" w="5050632">
                <a:moveTo>
                  <a:pt x="0" y="0"/>
                </a:moveTo>
                <a:lnTo>
                  <a:pt x="5050632" y="0"/>
                </a:lnTo>
                <a:lnTo>
                  <a:pt x="5050632" y="321978"/>
                </a:lnTo>
                <a:lnTo>
                  <a:pt x="0" y="321978"/>
                </a:lnTo>
                <a:lnTo>
                  <a:pt x="0" y="0"/>
                </a:lnTo>
                <a:close/>
              </a:path>
            </a:pathLst>
          </a:custGeom>
          <a:blipFill>
            <a:blip r:embed="rId4"/>
            <a:stretch>
              <a:fillRect l="0" t="0" r="0" b="0"/>
            </a:stretch>
          </a:blipFill>
        </p:spPr>
      </p:sp>
      <p:grpSp>
        <p:nvGrpSpPr>
          <p:cNvPr name="Group 5" id="5"/>
          <p:cNvGrpSpPr/>
          <p:nvPr/>
        </p:nvGrpSpPr>
        <p:grpSpPr>
          <a:xfrm rot="0">
            <a:off x="1028700" y="3086958"/>
            <a:ext cx="5050632" cy="3937078"/>
            <a:chOff x="0" y="0"/>
            <a:chExt cx="1330208" cy="1036926"/>
          </a:xfrm>
        </p:grpSpPr>
        <p:sp>
          <p:nvSpPr>
            <p:cNvPr name="Freeform 6" id="6"/>
            <p:cNvSpPr/>
            <p:nvPr/>
          </p:nvSpPr>
          <p:spPr>
            <a:xfrm flipH="false" flipV="false" rot="0">
              <a:off x="0" y="0"/>
              <a:ext cx="1330208" cy="1036926"/>
            </a:xfrm>
            <a:custGeom>
              <a:avLst/>
              <a:gdLst/>
              <a:ahLst/>
              <a:cxnLst/>
              <a:rect r="r" b="b" t="t" l="l"/>
              <a:pathLst>
                <a:path h="1036926" w="1330208">
                  <a:moveTo>
                    <a:pt x="30657" y="0"/>
                  </a:moveTo>
                  <a:lnTo>
                    <a:pt x="1299550" y="0"/>
                  </a:lnTo>
                  <a:cubicBezTo>
                    <a:pt x="1316482" y="0"/>
                    <a:pt x="1330208" y="13726"/>
                    <a:pt x="1330208" y="30657"/>
                  </a:cubicBezTo>
                  <a:lnTo>
                    <a:pt x="1330208" y="1006269"/>
                  </a:lnTo>
                  <a:cubicBezTo>
                    <a:pt x="1330208" y="1014400"/>
                    <a:pt x="1326978" y="1022197"/>
                    <a:pt x="1321228" y="1027947"/>
                  </a:cubicBezTo>
                  <a:cubicBezTo>
                    <a:pt x="1315479" y="1033696"/>
                    <a:pt x="1307681" y="1036926"/>
                    <a:pt x="1299550" y="1036926"/>
                  </a:cubicBezTo>
                  <a:lnTo>
                    <a:pt x="30657" y="1036926"/>
                  </a:lnTo>
                  <a:cubicBezTo>
                    <a:pt x="22526" y="1036926"/>
                    <a:pt x="14729" y="1033696"/>
                    <a:pt x="8979" y="1027947"/>
                  </a:cubicBezTo>
                  <a:cubicBezTo>
                    <a:pt x="3230" y="1022197"/>
                    <a:pt x="0" y="1014400"/>
                    <a:pt x="0" y="1006269"/>
                  </a:cubicBezTo>
                  <a:lnTo>
                    <a:pt x="0" y="30657"/>
                  </a:lnTo>
                  <a:cubicBezTo>
                    <a:pt x="0" y="22526"/>
                    <a:pt x="3230" y="14729"/>
                    <a:pt x="8979" y="8979"/>
                  </a:cubicBezTo>
                  <a:cubicBezTo>
                    <a:pt x="14729" y="3230"/>
                    <a:pt x="22526" y="0"/>
                    <a:pt x="30657" y="0"/>
                  </a:cubicBezTo>
                  <a:close/>
                </a:path>
              </a:pathLst>
            </a:custGeom>
            <a:solidFill>
              <a:srgbClr val="FFFFFF"/>
            </a:solidFill>
            <a:ln w="57150" cap="sq">
              <a:solidFill>
                <a:srgbClr val="433878"/>
              </a:solidFill>
              <a:prstDash val="solid"/>
              <a:miter/>
            </a:ln>
          </p:spPr>
        </p:sp>
        <p:sp>
          <p:nvSpPr>
            <p:cNvPr name="TextBox 7" id="7"/>
            <p:cNvSpPr txBox="true"/>
            <p:nvPr/>
          </p:nvSpPr>
          <p:spPr>
            <a:xfrm>
              <a:off x="0" y="-38100"/>
              <a:ext cx="1330208" cy="107502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618684" y="3863956"/>
            <a:ext cx="5050632" cy="3937078"/>
            <a:chOff x="0" y="0"/>
            <a:chExt cx="1330208" cy="1036926"/>
          </a:xfrm>
        </p:grpSpPr>
        <p:sp>
          <p:nvSpPr>
            <p:cNvPr name="Freeform 9" id="9"/>
            <p:cNvSpPr/>
            <p:nvPr/>
          </p:nvSpPr>
          <p:spPr>
            <a:xfrm flipH="false" flipV="false" rot="0">
              <a:off x="0" y="0"/>
              <a:ext cx="1330208" cy="1036926"/>
            </a:xfrm>
            <a:custGeom>
              <a:avLst/>
              <a:gdLst/>
              <a:ahLst/>
              <a:cxnLst/>
              <a:rect r="r" b="b" t="t" l="l"/>
              <a:pathLst>
                <a:path h="1036926" w="1330208">
                  <a:moveTo>
                    <a:pt x="30657" y="0"/>
                  </a:moveTo>
                  <a:lnTo>
                    <a:pt x="1299550" y="0"/>
                  </a:lnTo>
                  <a:cubicBezTo>
                    <a:pt x="1316482" y="0"/>
                    <a:pt x="1330208" y="13726"/>
                    <a:pt x="1330208" y="30657"/>
                  </a:cubicBezTo>
                  <a:lnTo>
                    <a:pt x="1330208" y="1006269"/>
                  </a:lnTo>
                  <a:cubicBezTo>
                    <a:pt x="1330208" y="1014400"/>
                    <a:pt x="1326978" y="1022197"/>
                    <a:pt x="1321228" y="1027947"/>
                  </a:cubicBezTo>
                  <a:cubicBezTo>
                    <a:pt x="1315479" y="1033696"/>
                    <a:pt x="1307681" y="1036926"/>
                    <a:pt x="1299550" y="1036926"/>
                  </a:cubicBezTo>
                  <a:lnTo>
                    <a:pt x="30657" y="1036926"/>
                  </a:lnTo>
                  <a:cubicBezTo>
                    <a:pt x="22526" y="1036926"/>
                    <a:pt x="14729" y="1033696"/>
                    <a:pt x="8979" y="1027947"/>
                  </a:cubicBezTo>
                  <a:cubicBezTo>
                    <a:pt x="3230" y="1022197"/>
                    <a:pt x="0" y="1014400"/>
                    <a:pt x="0" y="1006269"/>
                  </a:cubicBezTo>
                  <a:lnTo>
                    <a:pt x="0" y="30657"/>
                  </a:lnTo>
                  <a:cubicBezTo>
                    <a:pt x="0" y="22526"/>
                    <a:pt x="3230" y="14729"/>
                    <a:pt x="8979" y="8979"/>
                  </a:cubicBezTo>
                  <a:cubicBezTo>
                    <a:pt x="14729" y="3230"/>
                    <a:pt x="22526" y="0"/>
                    <a:pt x="30657" y="0"/>
                  </a:cubicBezTo>
                  <a:close/>
                </a:path>
              </a:pathLst>
            </a:custGeom>
            <a:solidFill>
              <a:srgbClr val="F5EFFF"/>
            </a:solidFill>
            <a:ln w="57150" cap="sq">
              <a:solidFill>
                <a:srgbClr val="433878"/>
              </a:solidFill>
              <a:prstDash val="solid"/>
              <a:miter/>
            </a:ln>
          </p:spPr>
        </p:sp>
        <p:sp>
          <p:nvSpPr>
            <p:cNvPr name="TextBox 10" id="10"/>
            <p:cNvSpPr txBox="true"/>
            <p:nvPr/>
          </p:nvSpPr>
          <p:spPr>
            <a:xfrm>
              <a:off x="0" y="-38100"/>
              <a:ext cx="1330208" cy="1075026"/>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00485" y="1066800"/>
            <a:ext cx="16258815" cy="1174750"/>
          </a:xfrm>
          <a:prstGeom prst="rect">
            <a:avLst/>
          </a:prstGeom>
        </p:spPr>
        <p:txBody>
          <a:bodyPr anchor="t" rtlCol="false" tIns="0" lIns="0" bIns="0" rIns="0">
            <a:spAutoFit/>
          </a:bodyPr>
          <a:lstStyle/>
          <a:p>
            <a:pPr algn="ctr" marL="0" indent="0" lvl="0">
              <a:lnSpc>
                <a:spcPts val="9200"/>
              </a:lnSpc>
            </a:pPr>
            <a:r>
              <a:rPr lang="en-US" b="true" sz="8000">
                <a:solidFill>
                  <a:srgbClr val="433878"/>
                </a:solidFill>
                <a:latin typeface="Montserrat Ultra-Bold"/>
                <a:ea typeface="Montserrat Ultra-Bold"/>
                <a:cs typeface="Montserrat Ultra-Bold"/>
                <a:sym typeface="Montserrat Ultra-Bold"/>
              </a:rPr>
              <a:t>INTEGRANTES</a:t>
            </a:r>
          </a:p>
        </p:txBody>
      </p:sp>
      <p:sp>
        <p:nvSpPr>
          <p:cNvPr name="Freeform 12" id="12"/>
          <p:cNvSpPr/>
          <p:nvPr/>
        </p:nvSpPr>
        <p:spPr>
          <a:xfrm flipH="false" flipV="false" rot="0">
            <a:off x="12208668" y="6955832"/>
            <a:ext cx="5050632" cy="321978"/>
          </a:xfrm>
          <a:custGeom>
            <a:avLst/>
            <a:gdLst/>
            <a:ahLst/>
            <a:cxnLst/>
            <a:rect r="r" b="b" t="t" l="l"/>
            <a:pathLst>
              <a:path h="321978" w="5050632">
                <a:moveTo>
                  <a:pt x="0" y="0"/>
                </a:moveTo>
                <a:lnTo>
                  <a:pt x="5050632" y="0"/>
                </a:lnTo>
                <a:lnTo>
                  <a:pt x="5050632" y="321978"/>
                </a:lnTo>
                <a:lnTo>
                  <a:pt x="0" y="321978"/>
                </a:lnTo>
                <a:lnTo>
                  <a:pt x="0" y="0"/>
                </a:lnTo>
                <a:close/>
              </a:path>
            </a:pathLst>
          </a:custGeom>
          <a:blipFill>
            <a:blip r:embed="rId4"/>
            <a:stretch>
              <a:fillRect l="0" t="0" r="0" b="0"/>
            </a:stretch>
          </a:blipFill>
        </p:spPr>
      </p:sp>
      <p:grpSp>
        <p:nvGrpSpPr>
          <p:cNvPr name="Group 13" id="13"/>
          <p:cNvGrpSpPr/>
          <p:nvPr/>
        </p:nvGrpSpPr>
        <p:grpSpPr>
          <a:xfrm rot="0">
            <a:off x="12208668" y="3086958"/>
            <a:ext cx="5050632" cy="4029863"/>
            <a:chOff x="0" y="0"/>
            <a:chExt cx="1330208" cy="1061363"/>
          </a:xfrm>
        </p:grpSpPr>
        <p:sp>
          <p:nvSpPr>
            <p:cNvPr name="Freeform 14" id="14"/>
            <p:cNvSpPr/>
            <p:nvPr/>
          </p:nvSpPr>
          <p:spPr>
            <a:xfrm flipH="false" flipV="false" rot="0">
              <a:off x="0" y="0"/>
              <a:ext cx="1330208" cy="1061363"/>
            </a:xfrm>
            <a:custGeom>
              <a:avLst/>
              <a:gdLst/>
              <a:ahLst/>
              <a:cxnLst/>
              <a:rect r="r" b="b" t="t" l="l"/>
              <a:pathLst>
                <a:path h="1061363" w="1330208">
                  <a:moveTo>
                    <a:pt x="30657" y="0"/>
                  </a:moveTo>
                  <a:lnTo>
                    <a:pt x="1299550" y="0"/>
                  </a:lnTo>
                  <a:cubicBezTo>
                    <a:pt x="1316482" y="0"/>
                    <a:pt x="1330208" y="13726"/>
                    <a:pt x="1330208" y="30657"/>
                  </a:cubicBezTo>
                  <a:lnTo>
                    <a:pt x="1330208" y="1030706"/>
                  </a:lnTo>
                  <a:cubicBezTo>
                    <a:pt x="1330208" y="1038837"/>
                    <a:pt x="1326978" y="1046634"/>
                    <a:pt x="1321228" y="1052384"/>
                  </a:cubicBezTo>
                  <a:cubicBezTo>
                    <a:pt x="1315479" y="1058133"/>
                    <a:pt x="1307681" y="1061363"/>
                    <a:pt x="1299550" y="1061363"/>
                  </a:cubicBezTo>
                  <a:lnTo>
                    <a:pt x="30657" y="1061363"/>
                  </a:lnTo>
                  <a:cubicBezTo>
                    <a:pt x="22526" y="1061363"/>
                    <a:pt x="14729" y="1058133"/>
                    <a:pt x="8979" y="1052384"/>
                  </a:cubicBezTo>
                  <a:cubicBezTo>
                    <a:pt x="3230" y="1046634"/>
                    <a:pt x="0" y="1038837"/>
                    <a:pt x="0" y="1030706"/>
                  </a:cubicBezTo>
                  <a:lnTo>
                    <a:pt x="0" y="30657"/>
                  </a:lnTo>
                  <a:cubicBezTo>
                    <a:pt x="0" y="22526"/>
                    <a:pt x="3230" y="14729"/>
                    <a:pt x="8979" y="8979"/>
                  </a:cubicBezTo>
                  <a:cubicBezTo>
                    <a:pt x="14729" y="3230"/>
                    <a:pt x="22526" y="0"/>
                    <a:pt x="30657" y="0"/>
                  </a:cubicBezTo>
                  <a:close/>
                </a:path>
              </a:pathLst>
            </a:custGeom>
            <a:solidFill>
              <a:srgbClr val="FFFFFF"/>
            </a:solidFill>
            <a:ln w="57150" cap="sq">
              <a:solidFill>
                <a:srgbClr val="433878"/>
              </a:solidFill>
              <a:prstDash val="solid"/>
              <a:miter/>
            </a:ln>
          </p:spPr>
        </p:sp>
        <p:sp>
          <p:nvSpPr>
            <p:cNvPr name="TextBox 15" id="15"/>
            <p:cNvSpPr txBox="true"/>
            <p:nvPr/>
          </p:nvSpPr>
          <p:spPr>
            <a:xfrm>
              <a:off x="0" y="-38100"/>
              <a:ext cx="1330208" cy="1099463"/>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6893868" y="8892868"/>
            <a:ext cx="730864" cy="730864"/>
          </a:xfrm>
          <a:custGeom>
            <a:avLst/>
            <a:gdLst/>
            <a:ahLst/>
            <a:cxnLst/>
            <a:rect r="r" b="b" t="t" l="l"/>
            <a:pathLst>
              <a:path h="730864" w="730864">
                <a:moveTo>
                  <a:pt x="0" y="0"/>
                </a:moveTo>
                <a:lnTo>
                  <a:pt x="730864" y="0"/>
                </a:lnTo>
                <a:lnTo>
                  <a:pt x="730864" y="730864"/>
                </a:lnTo>
                <a:lnTo>
                  <a:pt x="0" y="7308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5896729" y="371073"/>
            <a:ext cx="1728003" cy="1315254"/>
          </a:xfrm>
          <a:custGeom>
            <a:avLst/>
            <a:gdLst/>
            <a:ahLst/>
            <a:cxnLst/>
            <a:rect r="r" b="b" t="t" l="l"/>
            <a:pathLst>
              <a:path h="1315254" w="1728003">
                <a:moveTo>
                  <a:pt x="0" y="0"/>
                </a:moveTo>
                <a:lnTo>
                  <a:pt x="1728003" y="0"/>
                </a:lnTo>
                <a:lnTo>
                  <a:pt x="1728003" y="1315254"/>
                </a:lnTo>
                <a:lnTo>
                  <a:pt x="0" y="1315254"/>
                </a:lnTo>
                <a:lnTo>
                  <a:pt x="0" y="0"/>
                </a:lnTo>
                <a:close/>
              </a:path>
            </a:pathLst>
          </a:custGeom>
          <a:blipFill>
            <a:blip r:embed="rId7"/>
            <a:stretch>
              <a:fillRect l="0" t="0" r="0" b="0"/>
            </a:stretch>
          </a:blipFill>
        </p:spPr>
      </p:sp>
      <p:sp>
        <p:nvSpPr>
          <p:cNvPr name="TextBox 18" id="18"/>
          <p:cNvSpPr txBox="true"/>
          <p:nvPr/>
        </p:nvSpPr>
        <p:spPr>
          <a:xfrm rot="0">
            <a:off x="1336278" y="3482956"/>
            <a:ext cx="4435476" cy="381000"/>
          </a:xfrm>
          <a:prstGeom prst="rect">
            <a:avLst/>
          </a:prstGeom>
        </p:spPr>
        <p:txBody>
          <a:bodyPr anchor="t" rtlCol="false" tIns="0" lIns="0" bIns="0" rIns="0">
            <a:spAutoFit/>
          </a:bodyPr>
          <a:lstStyle/>
          <a:p>
            <a:pPr algn="ctr" marL="0" indent="0" lvl="0">
              <a:lnSpc>
                <a:spcPts val="3000"/>
              </a:lnSpc>
            </a:pPr>
            <a:r>
              <a:rPr lang="en-US" b="true" sz="2500" spc="250">
                <a:solidFill>
                  <a:srgbClr val="433878"/>
                </a:solidFill>
                <a:latin typeface="Montserrat Bold"/>
                <a:ea typeface="Montserrat Bold"/>
                <a:cs typeface="Montserrat Bold"/>
                <a:sym typeface="Montserrat Bold"/>
              </a:rPr>
              <a:t>Claudio Valencia </a:t>
            </a:r>
          </a:p>
        </p:txBody>
      </p:sp>
      <p:sp>
        <p:nvSpPr>
          <p:cNvPr name="TextBox 19" id="19"/>
          <p:cNvSpPr txBox="true"/>
          <p:nvPr/>
        </p:nvSpPr>
        <p:spPr>
          <a:xfrm rot="0">
            <a:off x="6926262" y="4104980"/>
            <a:ext cx="4435476" cy="381000"/>
          </a:xfrm>
          <a:prstGeom prst="rect">
            <a:avLst/>
          </a:prstGeom>
        </p:spPr>
        <p:txBody>
          <a:bodyPr anchor="t" rtlCol="false" tIns="0" lIns="0" bIns="0" rIns="0">
            <a:spAutoFit/>
          </a:bodyPr>
          <a:lstStyle/>
          <a:p>
            <a:pPr algn="ctr" marL="0" indent="0" lvl="0">
              <a:lnSpc>
                <a:spcPts val="3000"/>
              </a:lnSpc>
            </a:pPr>
            <a:r>
              <a:rPr lang="en-US" b="true" sz="2500" spc="250">
                <a:solidFill>
                  <a:srgbClr val="433878"/>
                </a:solidFill>
                <a:latin typeface="Montserrat Bold"/>
                <a:ea typeface="Montserrat Bold"/>
                <a:cs typeface="Montserrat Bold"/>
                <a:sym typeface="Montserrat Bold"/>
              </a:rPr>
              <a:t>Macarena Bertero</a:t>
            </a:r>
          </a:p>
        </p:txBody>
      </p:sp>
      <p:sp>
        <p:nvSpPr>
          <p:cNvPr name="TextBox 20" id="20"/>
          <p:cNvSpPr txBox="true"/>
          <p:nvPr/>
        </p:nvSpPr>
        <p:spPr>
          <a:xfrm rot="0">
            <a:off x="1336278" y="4078310"/>
            <a:ext cx="4435476" cy="377190"/>
          </a:xfrm>
          <a:prstGeom prst="rect">
            <a:avLst/>
          </a:prstGeom>
        </p:spPr>
        <p:txBody>
          <a:bodyPr anchor="t" rtlCol="false" tIns="0" lIns="0" bIns="0" rIns="0">
            <a:spAutoFit/>
          </a:bodyPr>
          <a:lstStyle/>
          <a:p>
            <a:pPr algn="ctr">
              <a:lnSpc>
                <a:spcPts val="3150"/>
              </a:lnSpc>
            </a:pPr>
            <a:r>
              <a:rPr lang="en-US" b="true" sz="2100" i="true" spc="420">
                <a:solidFill>
                  <a:srgbClr val="433878"/>
                </a:solidFill>
                <a:latin typeface="Open Sans Medium Italics"/>
                <a:ea typeface="Open Sans Medium Italics"/>
                <a:cs typeface="Open Sans Medium Italics"/>
                <a:sym typeface="Open Sans Medium Italics"/>
              </a:rPr>
              <a:t>Scrum Master</a:t>
            </a:r>
          </a:p>
        </p:txBody>
      </p:sp>
      <p:sp>
        <p:nvSpPr>
          <p:cNvPr name="TextBox 21" id="21"/>
          <p:cNvSpPr txBox="true"/>
          <p:nvPr/>
        </p:nvSpPr>
        <p:spPr>
          <a:xfrm rot="0">
            <a:off x="6926262" y="4678307"/>
            <a:ext cx="4435476" cy="377190"/>
          </a:xfrm>
          <a:prstGeom prst="rect">
            <a:avLst/>
          </a:prstGeom>
        </p:spPr>
        <p:txBody>
          <a:bodyPr anchor="t" rtlCol="false" tIns="0" lIns="0" bIns="0" rIns="0">
            <a:spAutoFit/>
          </a:bodyPr>
          <a:lstStyle/>
          <a:p>
            <a:pPr algn="ctr">
              <a:lnSpc>
                <a:spcPts val="3150"/>
              </a:lnSpc>
            </a:pPr>
            <a:r>
              <a:rPr lang="en-US" b="true" sz="2100" i="true" spc="420">
                <a:solidFill>
                  <a:srgbClr val="433878"/>
                </a:solidFill>
                <a:latin typeface="Open Sans Medium Italics"/>
                <a:ea typeface="Open Sans Medium Italics"/>
                <a:cs typeface="Open Sans Medium Italics"/>
                <a:sym typeface="Open Sans Medium Italics"/>
              </a:rPr>
              <a:t>Product Owner</a:t>
            </a:r>
          </a:p>
        </p:txBody>
      </p:sp>
      <p:sp>
        <p:nvSpPr>
          <p:cNvPr name="TextBox 22" id="22"/>
          <p:cNvSpPr txBox="true"/>
          <p:nvPr/>
        </p:nvSpPr>
        <p:spPr>
          <a:xfrm rot="0">
            <a:off x="12516246" y="3482956"/>
            <a:ext cx="4435476" cy="381000"/>
          </a:xfrm>
          <a:prstGeom prst="rect">
            <a:avLst/>
          </a:prstGeom>
        </p:spPr>
        <p:txBody>
          <a:bodyPr anchor="t" rtlCol="false" tIns="0" lIns="0" bIns="0" rIns="0">
            <a:spAutoFit/>
          </a:bodyPr>
          <a:lstStyle/>
          <a:p>
            <a:pPr algn="ctr" marL="0" indent="0" lvl="0">
              <a:lnSpc>
                <a:spcPts val="3000"/>
              </a:lnSpc>
            </a:pPr>
            <a:r>
              <a:rPr lang="en-US" b="true" sz="2500" spc="250">
                <a:solidFill>
                  <a:srgbClr val="433878"/>
                </a:solidFill>
                <a:latin typeface="Montserrat Bold"/>
                <a:ea typeface="Montserrat Bold"/>
                <a:cs typeface="Montserrat Bold"/>
                <a:sym typeface="Montserrat Bold"/>
              </a:rPr>
              <a:t>Ignacio León</a:t>
            </a:r>
          </a:p>
        </p:txBody>
      </p:sp>
      <p:sp>
        <p:nvSpPr>
          <p:cNvPr name="TextBox 23" id="23"/>
          <p:cNvSpPr txBox="true"/>
          <p:nvPr/>
        </p:nvSpPr>
        <p:spPr>
          <a:xfrm rot="0">
            <a:off x="12517041" y="3918290"/>
            <a:ext cx="4435476" cy="377190"/>
          </a:xfrm>
          <a:prstGeom prst="rect">
            <a:avLst/>
          </a:prstGeom>
        </p:spPr>
        <p:txBody>
          <a:bodyPr anchor="t" rtlCol="false" tIns="0" lIns="0" bIns="0" rIns="0">
            <a:spAutoFit/>
          </a:bodyPr>
          <a:lstStyle/>
          <a:p>
            <a:pPr algn="ctr">
              <a:lnSpc>
                <a:spcPts val="3150"/>
              </a:lnSpc>
            </a:pPr>
            <a:r>
              <a:rPr lang="en-US" sz="2100" i="true" spc="420">
                <a:solidFill>
                  <a:srgbClr val="433878"/>
                </a:solidFill>
                <a:latin typeface="Open Sans Italics"/>
                <a:ea typeface="Open Sans Italics"/>
                <a:cs typeface="Open Sans Italics"/>
                <a:sym typeface="Open Sans Italics"/>
              </a:rPr>
              <a:t> Desarrollador</a:t>
            </a:r>
          </a:p>
        </p:txBody>
      </p:sp>
      <p:sp>
        <p:nvSpPr>
          <p:cNvPr name="TextBox 24" id="24"/>
          <p:cNvSpPr txBox="true"/>
          <p:nvPr/>
        </p:nvSpPr>
        <p:spPr>
          <a:xfrm rot="0">
            <a:off x="1184276" y="4673254"/>
            <a:ext cx="5312495" cy="2604556"/>
          </a:xfrm>
          <a:prstGeom prst="rect">
            <a:avLst/>
          </a:prstGeom>
        </p:spPr>
        <p:txBody>
          <a:bodyPr anchor="t" rtlCol="false" tIns="0" lIns="0" bIns="0" rIns="0">
            <a:spAutoFit/>
          </a:bodyPr>
          <a:lstStyle/>
          <a:p>
            <a:pPr algn="l" marL="501846" indent="-250923" lvl="1">
              <a:lnSpc>
                <a:spcPts val="3486"/>
              </a:lnSpc>
              <a:buFont typeface="Arial"/>
              <a:buChar char="•"/>
            </a:pPr>
            <a:r>
              <a:rPr lang="en-US" b="true" sz="2324" spc="464">
                <a:solidFill>
                  <a:srgbClr val="433878"/>
                </a:solidFill>
                <a:latin typeface="Open Sans Bold"/>
                <a:ea typeface="Open Sans Bold"/>
                <a:cs typeface="Open Sans Bold"/>
                <a:sym typeface="Open Sans Bold"/>
              </a:rPr>
              <a:t>Liderazgo de Proceso</a:t>
            </a:r>
          </a:p>
          <a:p>
            <a:pPr algn="l" marL="501846" indent="-250923" lvl="1">
              <a:lnSpc>
                <a:spcPts val="3486"/>
              </a:lnSpc>
              <a:buFont typeface="Arial"/>
              <a:buChar char="•"/>
            </a:pPr>
            <a:r>
              <a:rPr lang="en-US" b="true" sz="2324" spc="464">
                <a:solidFill>
                  <a:srgbClr val="433878"/>
                </a:solidFill>
                <a:latin typeface="Open Sans Bold"/>
                <a:ea typeface="Open Sans Bold"/>
                <a:cs typeface="Open Sans Bold"/>
                <a:sym typeface="Open Sans Bold"/>
              </a:rPr>
              <a:t>Gestión de Impedimentos</a:t>
            </a:r>
          </a:p>
          <a:p>
            <a:pPr algn="l" marL="501846" indent="-250923" lvl="1">
              <a:lnSpc>
                <a:spcPts val="3486"/>
              </a:lnSpc>
              <a:buFont typeface="Arial"/>
              <a:buChar char="•"/>
            </a:pPr>
            <a:r>
              <a:rPr lang="en-US" b="true" sz="2324" spc="464">
                <a:solidFill>
                  <a:srgbClr val="433878"/>
                </a:solidFill>
                <a:latin typeface="Open Sans Bold"/>
                <a:ea typeface="Open Sans Bold"/>
                <a:cs typeface="Open Sans Bold"/>
                <a:sym typeface="Open Sans Bold"/>
              </a:rPr>
              <a:t>Coaching al equipo</a:t>
            </a:r>
          </a:p>
          <a:p>
            <a:pPr algn="l">
              <a:lnSpc>
                <a:spcPts val="3486"/>
              </a:lnSpc>
            </a:pPr>
          </a:p>
          <a:p>
            <a:pPr algn="l">
              <a:lnSpc>
                <a:spcPts val="3486"/>
              </a:lnSpc>
            </a:pPr>
          </a:p>
        </p:txBody>
      </p:sp>
      <p:sp>
        <p:nvSpPr>
          <p:cNvPr name="TextBox 25" id="25"/>
          <p:cNvSpPr txBox="true"/>
          <p:nvPr/>
        </p:nvSpPr>
        <p:spPr>
          <a:xfrm rot="0">
            <a:off x="6696472" y="5450252"/>
            <a:ext cx="5312495" cy="2604556"/>
          </a:xfrm>
          <a:prstGeom prst="rect">
            <a:avLst/>
          </a:prstGeom>
        </p:spPr>
        <p:txBody>
          <a:bodyPr anchor="t" rtlCol="false" tIns="0" lIns="0" bIns="0" rIns="0">
            <a:spAutoFit/>
          </a:bodyPr>
          <a:lstStyle/>
          <a:p>
            <a:pPr algn="l" marL="501846" indent="-250923" lvl="1">
              <a:lnSpc>
                <a:spcPts val="3486"/>
              </a:lnSpc>
              <a:buFont typeface="Arial"/>
              <a:buChar char="•"/>
            </a:pPr>
            <a:r>
              <a:rPr lang="en-US" b="true" sz="2324" spc="464">
                <a:solidFill>
                  <a:srgbClr val="433878"/>
                </a:solidFill>
                <a:latin typeface="Open Sans Bold"/>
                <a:ea typeface="Open Sans Bold"/>
                <a:cs typeface="Open Sans Bold"/>
                <a:sym typeface="Open Sans Bold"/>
              </a:rPr>
              <a:t>Visión del Producto</a:t>
            </a:r>
          </a:p>
          <a:p>
            <a:pPr algn="l" marL="501846" indent="-250923" lvl="1">
              <a:lnSpc>
                <a:spcPts val="3486"/>
              </a:lnSpc>
              <a:buFont typeface="Arial"/>
              <a:buChar char="•"/>
            </a:pPr>
            <a:r>
              <a:rPr lang="en-US" b="true" sz="2324" spc="464">
                <a:solidFill>
                  <a:srgbClr val="433878"/>
                </a:solidFill>
                <a:latin typeface="Open Sans Bold"/>
                <a:ea typeface="Open Sans Bold"/>
                <a:cs typeface="Open Sans Bold"/>
                <a:sym typeface="Open Sans Bold"/>
              </a:rPr>
              <a:t>Gestión del Backlog</a:t>
            </a:r>
          </a:p>
          <a:p>
            <a:pPr algn="l" marL="501846" indent="-250923" lvl="1">
              <a:lnSpc>
                <a:spcPts val="3486"/>
              </a:lnSpc>
              <a:buFont typeface="Arial"/>
              <a:buChar char="•"/>
            </a:pPr>
            <a:r>
              <a:rPr lang="en-US" b="true" sz="2324" spc="464">
                <a:solidFill>
                  <a:srgbClr val="433878"/>
                </a:solidFill>
                <a:latin typeface="Open Sans Bold"/>
                <a:ea typeface="Open Sans Bold"/>
                <a:cs typeface="Open Sans Bold"/>
                <a:sym typeface="Open Sans Bold"/>
              </a:rPr>
              <a:t>Aceptación de entregables</a:t>
            </a:r>
          </a:p>
          <a:p>
            <a:pPr algn="l">
              <a:lnSpc>
                <a:spcPts val="3486"/>
              </a:lnSpc>
            </a:pPr>
          </a:p>
          <a:p>
            <a:pPr algn="l">
              <a:lnSpc>
                <a:spcPts val="3486"/>
              </a:lnSpc>
            </a:pPr>
          </a:p>
        </p:txBody>
      </p:sp>
      <p:sp>
        <p:nvSpPr>
          <p:cNvPr name="TextBox 26" id="26"/>
          <p:cNvSpPr txBox="true"/>
          <p:nvPr/>
        </p:nvSpPr>
        <p:spPr>
          <a:xfrm rot="0">
            <a:off x="12208992" y="4343105"/>
            <a:ext cx="5050308" cy="3480037"/>
          </a:xfrm>
          <a:prstGeom prst="rect">
            <a:avLst/>
          </a:prstGeom>
        </p:spPr>
        <p:txBody>
          <a:bodyPr anchor="t" rtlCol="false" tIns="0" lIns="0" bIns="0" rIns="0">
            <a:spAutoFit/>
          </a:bodyPr>
          <a:lstStyle/>
          <a:p>
            <a:pPr algn="l" marL="501846" indent="-250923" lvl="1">
              <a:lnSpc>
                <a:spcPts val="3486"/>
              </a:lnSpc>
              <a:buFont typeface="Arial"/>
              <a:buChar char="•"/>
            </a:pPr>
            <a:r>
              <a:rPr lang="en-US" b="true" sz="2324" spc="464">
                <a:solidFill>
                  <a:srgbClr val="433878"/>
                </a:solidFill>
                <a:latin typeface="Open Sans Bold"/>
                <a:ea typeface="Open Sans Bold"/>
                <a:cs typeface="Open Sans Bold"/>
                <a:sym typeface="Open Sans Bold"/>
              </a:rPr>
              <a:t>Desarrollo del Producto</a:t>
            </a:r>
          </a:p>
          <a:p>
            <a:pPr algn="l" marL="501846" indent="-250923" lvl="1">
              <a:lnSpc>
                <a:spcPts val="3486"/>
              </a:lnSpc>
              <a:buFont typeface="Arial"/>
              <a:buChar char="•"/>
            </a:pPr>
            <a:r>
              <a:rPr lang="en-US" b="true" sz="2324" spc="464">
                <a:solidFill>
                  <a:srgbClr val="433878"/>
                </a:solidFill>
                <a:latin typeface="Open Sans Bold"/>
                <a:ea typeface="Open Sans Bold"/>
                <a:cs typeface="Open Sans Bold"/>
                <a:sym typeface="Open Sans Bold"/>
              </a:rPr>
              <a:t>Integración de Servicios</a:t>
            </a:r>
          </a:p>
          <a:p>
            <a:pPr algn="l" marL="501846" indent="-250923" lvl="1">
              <a:lnSpc>
                <a:spcPts val="3486"/>
              </a:lnSpc>
              <a:buFont typeface="Arial"/>
              <a:buChar char="•"/>
            </a:pPr>
            <a:r>
              <a:rPr lang="en-US" b="true" sz="2324" spc="464">
                <a:solidFill>
                  <a:srgbClr val="433878"/>
                </a:solidFill>
                <a:latin typeface="Open Sans Bold"/>
                <a:ea typeface="Open Sans Bold"/>
                <a:cs typeface="Open Sans Bold"/>
                <a:sym typeface="Open Sans Bold"/>
              </a:rPr>
              <a:t>Implementación de Lógica</a:t>
            </a:r>
          </a:p>
          <a:p>
            <a:pPr algn="l">
              <a:lnSpc>
                <a:spcPts val="3486"/>
              </a:lnSpc>
            </a:pPr>
          </a:p>
          <a:p>
            <a:pPr algn="l">
              <a:lnSpc>
                <a:spcPts val="348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416774" y="371073"/>
            <a:ext cx="1728003" cy="1315254"/>
          </a:xfrm>
          <a:custGeom>
            <a:avLst/>
            <a:gdLst/>
            <a:ahLst/>
            <a:cxnLst/>
            <a:rect r="r" b="b" t="t" l="l"/>
            <a:pathLst>
              <a:path h="1315254" w="1728003">
                <a:moveTo>
                  <a:pt x="0" y="0"/>
                </a:moveTo>
                <a:lnTo>
                  <a:pt x="1728003" y="0"/>
                </a:lnTo>
                <a:lnTo>
                  <a:pt x="1728003" y="1315254"/>
                </a:lnTo>
                <a:lnTo>
                  <a:pt x="0" y="1315254"/>
                </a:lnTo>
                <a:lnTo>
                  <a:pt x="0" y="0"/>
                </a:lnTo>
                <a:close/>
              </a:path>
            </a:pathLst>
          </a:custGeom>
          <a:blipFill>
            <a:blip r:embed="rId2"/>
            <a:stretch>
              <a:fillRect l="0" t="0" r="0" b="0"/>
            </a:stretch>
          </a:blipFill>
        </p:spPr>
      </p:sp>
      <p:grpSp>
        <p:nvGrpSpPr>
          <p:cNvPr name="Group 3" id="3"/>
          <p:cNvGrpSpPr/>
          <p:nvPr/>
        </p:nvGrpSpPr>
        <p:grpSpPr>
          <a:xfrm rot="0">
            <a:off x="8593449" y="1879335"/>
            <a:ext cx="7956462" cy="7185957"/>
            <a:chOff x="0" y="0"/>
            <a:chExt cx="2095529" cy="1892598"/>
          </a:xfrm>
        </p:grpSpPr>
        <p:sp>
          <p:nvSpPr>
            <p:cNvPr name="Freeform 4" id="4"/>
            <p:cNvSpPr/>
            <p:nvPr/>
          </p:nvSpPr>
          <p:spPr>
            <a:xfrm flipH="false" flipV="false" rot="0">
              <a:off x="0" y="0"/>
              <a:ext cx="2095529" cy="1892598"/>
            </a:xfrm>
            <a:custGeom>
              <a:avLst/>
              <a:gdLst/>
              <a:ahLst/>
              <a:cxnLst/>
              <a:rect r="r" b="b" t="t" l="l"/>
              <a:pathLst>
                <a:path h="1892598" w="2095529">
                  <a:moveTo>
                    <a:pt x="19461" y="0"/>
                  </a:moveTo>
                  <a:lnTo>
                    <a:pt x="2076068" y="0"/>
                  </a:lnTo>
                  <a:cubicBezTo>
                    <a:pt x="2081230" y="0"/>
                    <a:pt x="2086180" y="2050"/>
                    <a:pt x="2089829" y="5700"/>
                  </a:cubicBezTo>
                  <a:cubicBezTo>
                    <a:pt x="2093479" y="9350"/>
                    <a:pt x="2095529" y="14299"/>
                    <a:pt x="2095529" y="19461"/>
                  </a:cubicBezTo>
                  <a:lnTo>
                    <a:pt x="2095529" y="1873137"/>
                  </a:lnTo>
                  <a:cubicBezTo>
                    <a:pt x="2095529" y="1878299"/>
                    <a:pt x="2093479" y="1883248"/>
                    <a:pt x="2089829" y="1886898"/>
                  </a:cubicBezTo>
                  <a:cubicBezTo>
                    <a:pt x="2086180" y="1890548"/>
                    <a:pt x="2081230" y="1892598"/>
                    <a:pt x="2076068" y="1892598"/>
                  </a:cubicBezTo>
                  <a:lnTo>
                    <a:pt x="19461" y="1892598"/>
                  </a:lnTo>
                  <a:cubicBezTo>
                    <a:pt x="14299" y="1892598"/>
                    <a:pt x="9350" y="1890548"/>
                    <a:pt x="5700" y="1886898"/>
                  </a:cubicBezTo>
                  <a:cubicBezTo>
                    <a:pt x="2050" y="1883248"/>
                    <a:pt x="0" y="1878299"/>
                    <a:pt x="0" y="1873137"/>
                  </a:cubicBezTo>
                  <a:lnTo>
                    <a:pt x="0" y="19461"/>
                  </a:lnTo>
                  <a:cubicBezTo>
                    <a:pt x="0" y="14299"/>
                    <a:pt x="2050" y="9350"/>
                    <a:pt x="5700" y="5700"/>
                  </a:cubicBezTo>
                  <a:cubicBezTo>
                    <a:pt x="9350" y="2050"/>
                    <a:pt x="14299" y="0"/>
                    <a:pt x="19461" y="0"/>
                  </a:cubicBezTo>
                  <a:close/>
                </a:path>
              </a:pathLst>
            </a:custGeom>
            <a:solidFill>
              <a:srgbClr val="E5D9F2">
                <a:alpha val="89804"/>
              </a:srgbClr>
            </a:solidFill>
          </p:spPr>
        </p:sp>
        <p:sp>
          <p:nvSpPr>
            <p:cNvPr name="TextBox 5" id="5"/>
            <p:cNvSpPr txBox="true"/>
            <p:nvPr/>
          </p:nvSpPr>
          <p:spPr>
            <a:xfrm>
              <a:off x="0" y="-38100"/>
              <a:ext cx="2095529" cy="193069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0">
            <a:off x="0" y="0"/>
            <a:ext cx="5859839" cy="5859839"/>
          </a:xfrm>
          <a:custGeom>
            <a:avLst/>
            <a:gdLst/>
            <a:ahLst/>
            <a:cxnLst/>
            <a:rect r="r" b="b" t="t" l="l"/>
            <a:pathLst>
              <a:path h="5859839" w="5859839">
                <a:moveTo>
                  <a:pt x="5859839" y="5859839"/>
                </a:moveTo>
                <a:lnTo>
                  <a:pt x="0" y="5859839"/>
                </a:lnTo>
                <a:lnTo>
                  <a:pt x="0" y="0"/>
                </a:lnTo>
                <a:lnTo>
                  <a:pt x="5859839" y="0"/>
                </a:lnTo>
                <a:lnTo>
                  <a:pt x="5859839" y="585983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8083531"/>
            <a:ext cx="6980560" cy="1065531"/>
          </a:xfrm>
          <a:prstGeom prst="rect">
            <a:avLst/>
          </a:prstGeom>
        </p:spPr>
        <p:txBody>
          <a:bodyPr anchor="t" rtlCol="false" tIns="0" lIns="0" bIns="0" rIns="0">
            <a:spAutoFit/>
          </a:bodyPr>
          <a:lstStyle/>
          <a:p>
            <a:pPr algn="l" marL="0" indent="0" lvl="0">
              <a:lnSpc>
                <a:spcPts val="8395"/>
              </a:lnSpc>
            </a:pPr>
            <a:r>
              <a:rPr lang="en-US" b="true" sz="7300">
                <a:solidFill>
                  <a:srgbClr val="433878"/>
                </a:solidFill>
                <a:latin typeface="Montserrat Ultra-Bold"/>
                <a:ea typeface="Montserrat Ultra-Bold"/>
                <a:cs typeface="Montserrat Ultra-Bold"/>
                <a:sym typeface="Montserrat Ultra-Bold"/>
              </a:rPr>
              <a:t>DESCRIPCIÓN</a:t>
            </a:r>
          </a:p>
        </p:txBody>
      </p:sp>
      <p:sp>
        <p:nvSpPr>
          <p:cNvPr name="TextBox 8" id="8"/>
          <p:cNvSpPr txBox="true"/>
          <p:nvPr/>
        </p:nvSpPr>
        <p:spPr>
          <a:xfrm rot="0">
            <a:off x="9144000" y="2054743"/>
            <a:ext cx="6830761" cy="6777990"/>
          </a:xfrm>
          <a:prstGeom prst="rect">
            <a:avLst/>
          </a:prstGeom>
        </p:spPr>
        <p:txBody>
          <a:bodyPr anchor="t" rtlCol="false" tIns="0" lIns="0" bIns="0" rIns="0">
            <a:spAutoFit/>
          </a:bodyPr>
          <a:lstStyle/>
          <a:p>
            <a:pPr algn="l">
              <a:lnSpc>
                <a:spcPts val="3150"/>
              </a:lnSpc>
            </a:pPr>
            <a:r>
              <a:rPr lang="en-US" sz="2100" spc="420" b="true">
                <a:solidFill>
                  <a:srgbClr val="433878"/>
                </a:solidFill>
                <a:latin typeface="Open Sans Medium"/>
                <a:ea typeface="Open Sans Medium"/>
                <a:cs typeface="Open Sans Medium"/>
                <a:sym typeface="Open Sans Medium"/>
              </a:rPr>
              <a:t>La educación tradicional sufre de una crítica falta de adaptabilidad, donde el contenido estático no se ajusta al ritmo individual de cada estudiante, generando profundas brechas de conocimiento y alta deserción en asignaturas clave.</a:t>
            </a:r>
          </a:p>
          <a:p>
            <a:pPr algn="l">
              <a:lnSpc>
                <a:spcPts val="3150"/>
              </a:lnSpc>
            </a:pPr>
          </a:p>
          <a:p>
            <a:pPr algn="l">
              <a:lnSpc>
                <a:spcPts val="3150"/>
              </a:lnSpc>
            </a:pPr>
            <a:r>
              <a:rPr lang="en-US" sz="2100" spc="420" b="true">
                <a:solidFill>
                  <a:srgbClr val="433878"/>
                </a:solidFill>
                <a:latin typeface="Open Sans Medium"/>
                <a:ea typeface="Open Sans Medium"/>
                <a:cs typeface="Open Sans Medium"/>
                <a:sym typeface="Open Sans Medium"/>
              </a:rPr>
              <a:t>.Brain Boost transforma el estudio mediante Aprendizaje Adaptativo y Gamificado. Utilizamos Inteligencia Artificial para crear rutas de repaso únicas, enfocando a cada estudiante en sus debilidades, mientras convertimos el contenido complejo en desafíos de juego interactivos y atractivos.</a:t>
            </a:r>
          </a:p>
        </p:txBody>
      </p:sp>
      <p:sp>
        <p:nvSpPr>
          <p:cNvPr name="Freeform 9" id="9"/>
          <p:cNvSpPr/>
          <p:nvPr/>
        </p:nvSpPr>
        <p:spPr>
          <a:xfrm flipH="false" flipV="false" rot="0">
            <a:off x="16549911" y="8045431"/>
            <a:ext cx="730864" cy="730864"/>
          </a:xfrm>
          <a:custGeom>
            <a:avLst/>
            <a:gdLst/>
            <a:ahLst/>
            <a:cxnLst/>
            <a:rect r="r" b="b" t="t" l="l"/>
            <a:pathLst>
              <a:path h="730864" w="730864">
                <a:moveTo>
                  <a:pt x="0" y="0"/>
                </a:moveTo>
                <a:lnTo>
                  <a:pt x="730864" y="0"/>
                </a:lnTo>
                <a:lnTo>
                  <a:pt x="730864" y="730864"/>
                </a:lnTo>
                <a:lnTo>
                  <a:pt x="0" y="7308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8412881" y="9258300"/>
            <a:ext cx="9090320" cy="579508"/>
          </a:xfrm>
          <a:custGeom>
            <a:avLst/>
            <a:gdLst/>
            <a:ahLst/>
            <a:cxnLst/>
            <a:rect r="r" b="b" t="t" l="l"/>
            <a:pathLst>
              <a:path h="579508" w="9090320">
                <a:moveTo>
                  <a:pt x="0" y="0"/>
                </a:moveTo>
                <a:lnTo>
                  <a:pt x="9090320" y="0"/>
                </a:lnTo>
                <a:lnTo>
                  <a:pt x="9090320" y="579508"/>
                </a:lnTo>
                <a:lnTo>
                  <a:pt x="0" y="579508"/>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90457" y="9130752"/>
            <a:ext cx="8507087" cy="542327"/>
          </a:xfrm>
          <a:custGeom>
            <a:avLst/>
            <a:gdLst/>
            <a:ahLst/>
            <a:cxnLst/>
            <a:rect r="r" b="b" t="t" l="l"/>
            <a:pathLst>
              <a:path h="542327" w="8507087">
                <a:moveTo>
                  <a:pt x="0" y="0"/>
                </a:moveTo>
                <a:lnTo>
                  <a:pt x="8507086" y="0"/>
                </a:lnTo>
                <a:lnTo>
                  <a:pt x="8507086" y="542327"/>
                </a:lnTo>
                <a:lnTo>
                  <a:pt x="0" y="542327"/>
                </a:lnTo>
                <a:lnTo>
                  <a:pt x="0" y="0"/>
                </a:lnTo>
                <a:close/>
              </a:path>
            </a:pathLst>
          </a:custGeom>
          <a:blipFill>
            <a:blip r:embed="rId2"/>
            <a:stretch>
              <a:fillRect l="0" t="0" r="0" b="0"/>
            </a:stretch>
          </a:blipFill>
        </p:spPr>
      </p:sp>
      <p:sp>
        <p:nvSpPr>
          <p:cNvPr name="Freeform 3" id="3"/>
          <p:cNvSpPr/>
          <p:nvPr/>
        </p:nvSpPr>
        <p:spPr>
          <a:xfrm flipH="false" flipV="false" rot="0">
            <a:off x="4890457" y="4872337"/>
            <a:ext cx="8507087" cy="542327"/>
          </a:xfrm>
          <a:custGeom>
            <a:avLst/>
            <a:gdLst/>
            <a:ahLst/>
            <a:cxnLst/>
            <a:rect r="r" b="b" t="t" l="l"/>
            <a:pathLst>
              <a:path h="542327" w="8507087">
                <a:moveTo>
                  <a:pt x="0" y="0"/>
                </a:moveTo>
                <a:lnTo>
                  <a:pt x="8507086" y="0"/>
                </a:lnTo>
                <a:lnTo>
                  <a:pt x="8507086" y="542326"/>
                </a:lnTo>
                <a:lnTo>
                  <a:pt x="0" y="542326"/>
                </a:lnTo>
                <a:lnTo>
                  <a:pt x="0" y="0"/>
                </a:lnTo>
                <a:close/>
              </a:path>
            </a:pathLst>
          </a:custGeom>
          <a:blipFill>
            <a:blip r:embed="rId2"/>
            <a:stretch>
              <a:fillRect l="0" t="0" r="0" b="0"/>
            </a:stretch>
          </a:blipFill>
        </p:spPr>
      </p:sp>
      <p:sp>
        <p:nvSpPr>
          <p:cNvPr name="Freeform 4" id="4"/>
          <p:cNvSpPr/>
          <p:nvPr/>
        </p:nvSpPr>
        <p:spPr>
          <a:xfrm flipH="false" flipV="false" rot="0">
            <a:off x="12247666" y="3036925"/>
            <a:ext cx="7225441" cy="7225441"/>
          </a:xfrm>
          <a:custGeom>
            <a:avLst/>
            <a:gdLst/>
            <a:ahLst/>
            <a:cxnLst/>
            <a:rect r="r" b="b" t="t" l="l"/>
            <a:pathLst>
              <a:path h="7225441" w="7225441">
                <a:moveTo>
                  <a:pt x="0" y="0"/>
                </a:moveTo>
                <a:lnTo>
                  <a:pt x="7225442" y="0"/>
                </a:lnTo>
                <a:lnTo>
                  <a:pt x="7225442" y="7225441"/>
                </a:lnTo>
                <a:lnTo>
                  <a:pt x="0" y="7225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0">
            <a:off x="-1006636" y="-3343"/>
            <a:ext cx="7315200" cy="3657600"/>
          </a:xfrm>
          <a:custGeom>
            <a:avLst/>
            <a:gdLst/>
            <a:ahLst/>
            <a:cxnLst/>
            <a:rect r="r" b="b" t="t" l="l"/>
            <a:pathLst>
              <a:path h="3657600" w="7315200">
                <a:moveTo>
                  <a:pt x="7315200" y="3657600"/>
                </a:moveTo>
                <a:lnTo>
                  <a:pt x="0" y="3657600"/>
                </a:lnTo>
                <a:lnTo>
                  <a:pt x="0" y="0"/>
                </a:lnTo>
                <a:lnTo>
                  <a:pt x="7315200" y="0"/>
                </a:lnTo>
                <a:lnTo>
                  <a:pt x="7315200" y="36576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50782" y="-3343"/>
            <a:ext cx="3882098" cy="3882098"/>
          </a:xfrm>
          <a:custGeom>
            <a:avLst/>
            <a:gdLst/>
            <a:ahLst/>
            <a:cxnLst/>
            <a:rect r="r" b="b" t="t" l="l"/>
            <a:pathLst>
              <a:path h="3882098" w="3882098">
                <a:moveTo>
                  <a:pt x="0" y="0"/>
                </a:moveTo>
                <a:lnTo>
                  <a:pt x="3882097" y="0"/>
                </a:lnTo>
                <a:lnTo>
                  <a:pt x="3882097" y="3882097"/>
                </a:lnTo>
                <a:lnTo>
                  <a:pt x="0" y="3882097"/>
                </a:lnTo>
                <a:lnTo>
                  <a:pt x="0" y="0"/>
                </a:lnTo>
                <a:close/>
              </a:path>
            </a:pathLst>
          </a:custGeom>
          <a:blipFill>
            <a:blip r:embed="rId7"/>
            <a:stretch>
              <a:fillRect l="0" t="0" r="0" b="0"/>
            </a:stretch>
          </a:blipFill>
        </p:spPr>
      </p:sp>
      <p:grpSp>
        <p:nvGrpSpPr>
          <p:cNvPr name="Group 7" id="7"/>
          <p:cNvGrpSpPr/>
          <p:nvPr/>
        </p:nvGrpSpPr>
        <p:grpSpPr>
          <a:xfrm rot="0">
            <a:off x="1028700" y="3036925"/>
            <a:ext cx="16658112" cy="1851573"/>
            <a:chOff x="0" y="0"/>
            <a:chExt cx="4387322" cy="487657"/>
          </a:xfrm>
        </p:grpSpPr>
        <p:sp>
          <p:nvSpPr>
            <p:cNvPr name="Freeform 8" id="8"/>
            <p:cNvSpPr/>
            <p:nvPr/>
          </p:nvSpPr>
          <p:spPr>
            <a:xfrm flipH="false" flipV="false" rot="0">
              <a:off x="0" y="0"/>
              <a:ext cx="4387322" cy="487657"/>
            </a:xfrm>
            <a:custGeom>
              <a:avLst/>
              <a:gdLst/>
              <a:ahLst/>
              <a:cxnLst/>
              <a:rect r="r" b="b" t="t" l="l"/>
              <a:pathLst>
                <a:path h="487657" w="4387322">
                  <a:moveTo>
                    <a:pt x="9295" y="0"/>
                  </a:moveTo>
                  <a:lnTo>
                    <a:pt x="4378027" y="0"/>
                  </a:lnTo>
                  <a:cubicBezTo>
                    <a:pt x="4380492" y="0"/>
                    <a:pt x="4382856" y="979"/>
                    <a:pt x="4384599" y="2722"/>
                  </a:cubicBezTo>
                  <a:cubicBezTo>
                    <a:pt x="4386342" y="4466"/>
                    <a:pt x="4387322" y="6830"/>
                    <a:pt x="4387322" y="9295"/>
                  </a:cubicBezTo>
                  <a:lnTo>
                    <a:pt x="4387322" y="478362"/>
                  </a:lnTo>
                  <a:cubicBezTo>
                    <a:pt x="4387322" y="480827"/>
                    <a:pt x="4386342" y="483191"/>
                    <a:pt x="4384599" y="484935"/>
                  </a:cubicBezTo>
                  <a:cubicBezTo>
                    <a:pt x="4382856" y="486678"/>
                    <a:pt x="4380492" y="487657"/>
                    <a:pt x="4378027" y="487657"/>
                  </a:cubicBezTo>
                  <a:lnTo>
                    <a:pt x="9295" y="487657"/>
                  </a:lnTo>
                  <a:cubicBezTo>
                    <a:pt x="6830" y="487657"/>
                    <a:pt x="4466" y="486678"/>
                    <a:pt x="2722" y="484935"/>
                  </a:cubicBezTo>
                  <a:cubicBezTo>
                    <a:pt x="979" y="483191"/>
                    <a:pt x="0" y="480827"/>
                    <a:pt x="0" y="478362"/>
                  </a:cubicBezTo>
                  <a:lnTo>
                    <a:pt x="0" y="9295"/>
                  </a:lnTo>
                  <a:cubicBezTo>
                    <a:pt x="0" y="6830"/>
                    <a:pt x="979" y="4466"/>
                    <a:pt x="2722" y="2722"/>
                  </a:cubicBezTo>
                  <a:cubicBezTo>
                    <a:pt x="4466" y="979"/>
                    <a:pt x="6830" y="0"/>
                    <a:pt x="9295" y="0"/>
                  </a:cubicBezTo>
                  <a:close/>
                </a:path>
              </a:pathLst>
            </a:custGeom>
            <a:solidFill>
              <a:srgbClr val="FFFFFF"/>
            </a:solidFill>
            <a:ln w="57150" cap="sq">
              <a:solidFill>
                <a:srgbClr val="433878"/>
              </a:solidFill>
              <a:prstDash val="solid"/>
              <a:miter/>
            </a:ln>
          </p:spPr>
        </p:sp>
        <p:sp>
          <p:nvSpPr>
            <p:cNvPr name="TextBox 9" id="9"/>
            <p:cNvSpPr txBox="true"/>
            <p:nvPr/>
          </p:nvSpPr>
          <p:spPr>
            <a:xfrm>
              <a:off x="0" y="-38100"/>
              <a:ext cx="4387322" cy="525757"/>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8700" y="5138227"/>
            <a:ext cx="16230600" cy="4856666"/>
            <a:chOff x="0" y="0"/>
            <a:chExt cx="4274726" cy="1279122"/>
          </a:xfrm>
        </p:grpSpPr>
        <p:sp>
          <p:nvSpPr>
            <p:cNvPr name="Freeform 11" id="11"/>
            <p:cNvSpPr/>
            <p:nvPr/>
          </p:nvSpPr>
          <p:spPr>
            <a:xfrm flipH="false" flipV="false" rot="0">
              <a:off x="0" y="0"/>
              <a:ext cx="4274726" cy="1279122"/>
            </a:xfrm>
            <a:custGeom>
              <a:avLst/>
              <a:gdLst/>
              <a:ahLst/>
              <a:cxnLst/>
              <a:rect r="r" b="b" t="t" l="l"/>
              <a:pathLst>
                <a:path h="1279122" w="4274726">
                  <a:moveTo>
                    <a:pt x="9540" y="0"/>
                  </a:moveTo>
                  <a:lnTo>
                    <a:pt x="4265186" y="0"/>
                  </a:lnTo>
                  <a:cubicBezTo>
                    <a:pt x="4270455" y="0"/>
                    <a:pt x="4274726" y="4271"/>
                    <a:pt x="4274726" y="9540"/>
                  </a:cubicBezTo>
                  <a:lnTo>
                    <a:pt x="4274726" y="1269582"/>
                  </a:lnTo>
                  <a:cubicBezTo>
                    <a:pt x="4274726" y="1272112"/>
                    <a:pt x="4273721" y="1274539"/>
                    <a:pt x="4271932" y="1276328"/>
                  </a:cubicBezTo>
                  <a:cubicBezTo>
                    <a:pt x="4270143" y="1278117"/>
                    <a:pt x="4267716" y="1279122"/>
                    <a:pt x="4265186" y="1279122"/>
                  </a:cubicBezTo>
                  <a:lnTo>
                    <a:pt x="9540" y="1279122"/>
                  </a:lnTo>
                  <a:cubicBezTo>
                    <a:pt x="4271" y="1279122"/>
                    <a:pt x="0" y="1274851"/>
                    <a:pt x="0" y="1269582"/>
                  </a:cubicBezTo>
                  <a:lnTo>
                    <a:pt x="0" y="9540"/>
                  </a:lnTo>
                  <a:cubicBezTo>
                    <a:pt x="0" y="4271"/>
                    <a:pt x="4271" y="0"/>
                    <a:pt x="9540" y="0"/>
                  </a:cubicBezTo>
                  <a:close/>
                </a:path>
              </a:pathLst>
            </a:custGeom>
            <a:solidFill>
              <a:srgbClr val="FFFFFF"/>
            </a:solidFill>
            <a:ln w="57150" cap="sq">
              <a:solidFill>
                <a:srgbClr val="433878"/>
              </a:solidFill>
              <a:prstDash val="solid"/>
              <a:miter/>
            </a:ln>
          </p:spPr>
        </p:sp>
        <p:sp>
          <p:nvSpPr>
            <p:cNvPr name="TextBox 12" id="12"/>
            <p:cNvSpPr txBox="true"/>
            <p:nvPr/>
          </p:nvSpPr>
          <p:spPr>
            <a:xfrm>
              <a:off x="0" y="-38100"/>
              <a:ext cx="4274726" cy="131722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6374560" y="3727814"/>
            <a:ext cx="469795" cy="46979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B8B0"/>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374560" y="5912668"/>
            <a:ext cx="469795" cy="46979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B8B0"/>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374560" y="8097616"/>
            <a:ext cx="469795" cy="46979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B8B0"/>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5232879" y="1066800"/>
            <a:ext cx="11982576" cy="1174750"/>
          </a:xfrm>
          <a:prstGeom prst="rect">
            <a:avLst/>
          </a:prstGeom>
        </p:spPr>
        <p:txBody>
          <a:bodyPr anchor="t" rtlCol="false" tIns="0" lIns="0" bIns="0" rIns="0">
            <a:spAutoFit/>
          </a:bodyPr>
          <a:lstStyle/>
          <a:p>
            <a:pPr algn="l" marL="0" indent="0" lvl="0">
              <a:lnSpc>
                <a:spcPts val="9200"/>
              </a:lnSpc>
            </a:pPr>
            <a:r>
              <a:rPr lang="en-US" b="true" sz="8000">
                <a:solidFill>
                  <a:srgbClr val="433878"/>
                </a:solidFill>
                <a:latin typeface="Montserrat Ultra-Bold"/>
                <a:ea typeface="Montserrat Ultra-Bold"/>
                <a:cs typeface="Montserrat Ultra-Bold"/>
                <a:sym typeface="Montserrat Ultra-Bold"/>
              </a:rPr>
              <a:t>OBJETIVOS</a:t>
            </a:r>
          </a:p>
        </p:txBody>
      </p:sp>
      <p:sp>
        <p:nvSpPr>
          <p:cNvPr name="TextBox 23" id="23"/>
          <p:cNvSpPr txBox="true"/>
          <p:nvPr/>
        </p:nvSpPr>
        <p:spPr>
          <a:xfrm rot="0">
            <a:off x="1134000" y="3737339"/>
            <a:ext cx="4315662" cy="409575"/>
          </a:xfrm>
          <a:prstGeom prst="rect">
            <a:avLst/>
          </a:prstGeom>
        </p:spPr>
        <p:txBody>
          <a:bodyPr anchor="t" rtlCol="false" tIns="0" lIns="0" bIns="0" rIns="0">
            <a:spAutoFit/>
          </a:bodyPr>
          <a:lstStyle/>
          <a:p>
            <a:pPr algn="l" marL="0" indent="0" lvl="0">
              <a:lnSpc>
                <a:spcPts val="3359"/>
              </a:lnSpc>
            </a:pPr>
            <a:r>
              <a:rPr lang="en-US" b="true" sz="2799" spc="279">
                <a:solidFill>
                  <a:srgbClr val="433878"/>
                </a:solidFill>
                <a:latin typeface="Montserrat Bold"/>
                <a:ea typeface="Montserrat Bold"/>
                <a:cs typeface="Montserrat Bold"/>
                <a:sym typeface="Montserrat Bold"/>
              </a:rPr>
              <a:t>General</a:t>
            </a:r>
          </a:p>
        </p:txBody>
      </p:sp>
      <p:sp>
        <p:nvSpPr>
          <p:cNvPr name="TextBox 24" id="24"/>
          <p:cNvSpPr txBox="true"/>
          <p:nvPr/>
        </p:nvSpPr>
        <p:spPr>
          <a:xfrm rot="0">
            <a:off x="1134000" y="5947541"/>
            <a:ext cx="4315662" cy="409575"/>
          </a:xfrm>
          <a:prstGeom prst="rect">
            <a:avLst/>
          </a:prstGeom>
        </p:spPr>
        <p:txBody>
          <a:bodyPr anchor="t" rtlCol="false" tIns="0" lIns="0" bIns="0" rIns="0">
            <a:spAutoFit/>
          </a:bodyPr>
          <a:lstStyle/>
          <a:p>
            <a:pPr algn="l" marL="0" indent="0" lvl="0">
              <a:lnSpc>
                <a:spcPts val="3359"/>
              </a:lnSpc>
            </a:pPr>
            <a:r>
              <a:rPr lang="en-US" b="true" sz="2799" spc="279">
                <a:solidFill>
                  <a:srgbClr val="433878"/>
                </a:solidFill>
                <a:latin typeface="Montserrat Bold"/>
                <a:ea typeface="Montserrat Bold"/>
                <a:cs typeface="Montserrat Bold"/>
                <a:sym typeface="Montserrat Bold"/>
              </a:rPr>
              <a:t>Especificos</a:t>
            </a:r>
          </a:p>
        </p:txBody>
      </p:sp>
      <p:sp>
        <p:nvSpPr>
          <p:cNvPr name="TextBox 25" id="25"/>
          <p:cNvSpPr txBox="true"/>
          <p:nvPr/>
        </p:nvSpPr>
        <p:spPr>
          <a:xfrm rot="0">
            <a:off x="3836373" y="3191186"/>
            <a:ext cx="13007982" cy="1895475"/>
          </a:xfrm>
          <a:prstGeom prst="rect">
            <a:avLst/>
          </a:prstGeom>
        </p:spPr>
        <p:txBody>
          <a:bodyPr anchor="t" rtlCol="false" tIns="0" lIns="0" bIns="0" rIns="0">
            <a:spAutoFit/>
          </a:bodyPr>
          <a:lstStyle/>
          <a:p>
            <a:pPr algn="l">
              <a:lnSpc>
                <a:spcPts val="3000"/>
              </a:lnSpc>
            </a:pPr>
            <a:r>
              <a:rPr lang="en-US" sz="2000" spc="400" b="true">
                <a:solidFill>
                  <a:srgbClr val="433878"/>
                </a:solidFill>
                <a:latin typeface="Open Sans Medium"/>
                <a:ea typeface="Open Sans Medium"/>
                <a:cs typeface="Open Sans Medium"/>
                <a:sym typeface="Open Sans Medium"/>
              </a:rPr>
              <a:t>Desarrollar una aplicación de aprendizaje adaptativo, basada en gamificación e inteligencia artificial, para los estudiantes, con el fin de mejorar su retención de conocimiento en materias teóricas y fomentar el repaso activo.</a:t>
            </a:r>
          </a:p>
          <a:p>
            <a:pPr algn="l">
              <a:lnSpc>
                <a:spcPts val="3000"/>
              </a:lnSpc>
            </a:pPr>
          </a:p>
        </p:txBody>
      </p:sp>
      <p:sp>
        <p:nvSpPr>
          <p:cNvPr name="Freeform 26" id="26"/>
          <p:cNvSpPr/>
          <p:nvPr/>
        </p:nvSpPr>
        <p:spPr>
          <a:xfrm flipH="false" flipV="false" rot="0">
            <a:off x="16139770" y="510203"/>
            <a:ext cx="1728003" cy="1315254"/>
          </a:xfrm>
          <a:custGeom>
            <a:avLst/>
            <a:gdLst/>
            <a:ahLst/>
            <a:cxnLst/>
            <a:rect r="r" b="b" t="t" l="l"/>
            <a:pathLst>
              <a:path h="1315254" w="1728003">
                <a:moveTo>
                  <a:pt x="0" y="0"/>
                </a:moveTo>
                <a:lnTo>
                  <a:pt x="1728003" y="0"/>
                </a:lnTo>
                <a:lnTo>
                  <a:pt x="1728003" y="1315254"/>
                </a:lnTo>
                <a:lnTo>
                  <a:pt x="0" y="1315254"/>
                </a:lnTo>
                <a:lnTo>
                  <a:pt x="0" y="0"/>
                </a:lnTo>
                <a:close/>
              </a:path>
            </a:pathLst>
          </a:custGeom>
          <a:blipFill>
            <a:blip r:embed="rId8"/>
            <a:stretch>
              <a:fillRect l="0" t="0" r="0" b="0"/>
            </a:stretch>
          </a:blipFill>
        </p:spPr>
      </p:sp>
      <p:sp>
        <p:nvSpPr>
          <p:cNvPr name="TextBox 27" id="27"/>
          <p:cNvSpPr txBox="true"/>
          <p:nvPr/>
        </p:nvSpPr>
        <p:spPr>
          <a:xfrm rot="0">
            <a:off x="3598070" y="5357513"/>
            <a:ext cx="13405702" cy="4637379"/>
          </a:xfrm>
          <a:prstGeom prst="rect">
            <a:avLst/>
          </a:prstGeom>
        </p:spPr>
        <p:txBody>
          <a:bodyPr anchor="t" rtlCol="false" tIns="0" lIns="0" bIns="0" rIns="0">
            <a:spAutoFit/>
          </a:bodyPr>
          <a:lstStyle/>
          <a:p>
            <a:pPr algn="l" marL="405542" indent="-202771" lvl="1">
              <a:lnSpc>
                <a:spcPts val="2817"/>
              </a:lnSpc>
              <a:buFont typeface="Arial"/>
              <a:buChar char="•"/>
            </a:pPr>
            <a:r>
              <a:rPr lang="en-US" b="true" sz="1878" spc="375">
                <a:solidFill>
                  <a:srgbClr val="433878"/>
                </a:solidFill>
                <a:latin typeface="Open Sans Medium"/>
                <a:ea typeface="Open Sans Medium"/>
                <a:cs typeface="Open Sans Medium"/>
                <a:sym typeface="Open Sans Medium"/>
              </a:rPr>
              <a:t>Gestión de Usuarios y Seguridad: Implementar un sistema de autenticación robusto basado en JWT que soporte los tres roles clave  y gestione permisos a nivel de microservicio.</a:t>
            </a:r>
          </a:p>
          <a:p>
            <a:pPr algn="l" marL="405542" indent="-202771" lvl="1">
              <a:lnSpc>
                <a:spcPts val="2817"/>
              </a:lnSpc>
              <a:buFont typeface="Arial"/>
              <a:buChar char="•"/>
            </a:pPr>
            <a:r>
              <a:rPr lang="en-US" b="true" sz="1878" spc="375">
                <a:solidFill>
                  <a:srgbClr val="433878"/>
                </a:solidFill>
                <a:latin typeface="Open Sans Medium"/>
                <a:ea typeface="Open Sans Medium"/>
                <a:cs typeface="Open Sans Medium"/>
                <a:sym typeface="Open Sans Medium"/>
              </a:rPr>
              <a:t>Integración de Contenido Inteligente: Construir el IA Service con Google Gemini para la generación dinámica de preguntas y conceptos, personalizando el contenido en tiempo real según las debilidades del estudiante.</a:t>
            </a:r>
          </a:p>
          <a:p>
            <a:pPr algn="l" marL="405542" indent="-202771" lvl="1">
              <a:lnSpc>
                <a:spcPts val="2817"/>
              </a:lnSpc>
              <a:buFont typeface="Arial"/>
              <a:buChar char="•"/>
            </a:pPr>
            <a:r>
              <a:rPr lang="en-US" b="true" sz="1878" spc="375">
                <a:solidFill>
                  <a:srgbClr val="433878"/>
                </a:solidFill>
                <a:latin typeface="Open Sans Medium"/>
                <a:ea typeface="Open Sans Medium"/>
                <a:cs typeface="Open Sans Medium"/>
                <a:sym typeface="Open Sans Medium"/>
              </a:rPr>
              <a:t>Implementación de Gamificación: Desarrollar el Game Service para incorporar mecánicas esenciales (puntajes, rankings y leaderboards) que incentiven la participación y eleven el engagement de los alumnos.</a:t>
            </a:r>
          </a:p>
          <a:p>
            <a:pPr algn="l" marL="405542" indent="-202771" lvl="1">
              <a:lnSpc>
                <a:spcPts val="2817"/>
              </a:lnSpc>
              <a:buFont typeface="Arial"/>
              <a:buChar char="•"/>
            </a:pPr>
            <a:r>
              <a:rPr lang="en-US" b="true" sz="1878" spc="375">
                <a:solidFill>
                  <a:srgbClr val="433878"/>
                </a:solidFill>
                <a:latin typeface="Open Sans Medium"/>
                <a:ea typeface="Open Sans Medium"/>
                <a:cs typeface="Open Sans Medium"/>
                <a:sym typeface="Open Sans Medium"/>
              </a:rPr>
              <a:t>Arquitectura Escalable y Resiliente: Establecer una arquitectura de microservicios sobre GCP, utilizando una estrategia de persistencia dual  para garantizar la escalabilidad elástica y la alta disponibilidad.</a:t>
            </a:r>
          </a:p>
          <a:p>
            <a:pPr algn="l">
              <a:lnSpc>
                <a:spcPts val="281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48788" y="6541041"/>
            <a:ext cx="10039212" cy="5910586"/>
          </a:xfrm>
          <a:custGeom>
            <a:avLst/>
            <a:gdLst/>
            <a:ahLst/>
            <a:cxnLst/>
            <a:rect r="r" b="b" t="t" l="l"/>
            <a:pathLst>
              <a:path h="5910586" w="10039212">
                <a:moveTo>
                  <a:pt x="0" y="0"/>
                </a:moveTo>
                <a:lnTo>
                  <a:pt x="10039212" y="0"/>
                </a:lnTo>
                <a:lnTo>
                  <a:pt x="10039212" y="5910586"/>
                </a:lnTo>
                <a:lnTo>
                  <a:pt x="0" y="5910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769559" y="2320924"/>
          <a:ext cx="16748882" cy="7143750"/>
        </p:xfrm>
        <a:graphic>
          <a:graphicData uri="http://schemas.openxmlformats.org/drawingml/2006/table">
            <a:tbl>
              <a:tblPr/>
              <a:tblGrid>
                <a:gridCol w="5012801"/>
                <a:gridCol w="11736081"/>
              </a:tblGrid>
              <a:tr h="3571875">
                <a:tc>
                  <a:txBody>
                    <a:bodyPr anchor="t" rtlCol="false"/>
                    <a:lstStyle/>
                    <a:p>
                      <a:pPr algn="ctr">
                        <a:lnSpc>
                          <a:spcPts val="3499"/>
                        </a:lnSpc>
                        <a:defRPr/>
                      </a:pPr>
                      <a:r>
                        <a:rPr lang="en-US" b="true" sz="2499" spc="124">
                          <a:solidFill>
                            <a:srgbClr val="FFFFFF"/>
                          </a:solidFill>
                          <a:latin typeface="Montserrat Bold"/>
                          <a:ea typeface="Montserrat Bold"/>
                          <a:cs typeface="Montserrat Bold"/>
                          <a:sym typeface="Montserrat Bold"/>
                        </a:rPr>
                        <a:t>Alcances</a:t>
                      </a:r>
                      <a:endParaRPr lang="en-US" sz="1100"/>
                    </a:p>
                  </a:txBody>
                  <a:tcPr marL="190500" marR="190500" marT="190500" marB="190500" anchor="ctr">
                    <a:lnL cmpd="sng" algn="ctr" cap="flat" w="28575">
                      <a:solidFill>
                        <a:srgbClr val="363062"/>
                      </a:solidFill>
                      <a:prstDash val="solid"/>
                      <a:round/>
                      <a:headEnd type="none" w="med" len="med"/>
                      <a:tailEnd type="none" w="med" len="med"/>
                    </a:lnL>
                    <a:lnR cmpd="sng" algn="ctr" cap="flat" w="28575">
                      <a:solidFill>
                        <a:srgbClr val="363062"/>
                      </a:solidFill>
                      <a:prstDash val="solid"/>
                      <a:round/>
                      <a:headEnd type="none" w="med" len="med"/>
                      <a:tailEnd type="none" w="med" len="med"/>
                    </a:lnR>
                    <a:lnT cmpd="sng" algn="ctr" cap="flat" w="28575">
                      <a:solidFill>
                        <a:srgbClr val="363062"/>
                      </a:solidFill>
                      <a:prstDash val="solid"/>
                      <a:round/>
                      <a:headEnd type="none" w="med" len="med"/>
                      <a:tailEnd type="none" w="med" len="med"/>
                    </a:lnT>
                    <a:lnB cmpd="sng" algn="ctr" cap="flat" w="28575">
                      <a:solidFill>
                        <a:srgbClr val="363062"/>
                      </a:solidFill>
                      <a:prstDash val="solid"/>
                      <a:round/>
                      <a:headEnd type="none" w="med" len="med"/>
                      <a:tailEnd type="none" w="med" len="med"/>
                    </a:lnB>
                    <a:solidFill>
                      <a:srgbClr val="9BB8B0"/>
                    </a:solidFill>
                  </a:tcPr>
                </a:tc>
                <a:tc>
                  <a:txBody>
                    <a:bodyPr anchor="t" rtlCol="false"/>
                    <a:lstStyle/>
                    <a:p>
                      <a:pPr algn="l" marL="453388" indent="-226694" lvl="1">
                        <a:lnSpc>
                          <a:spcPts val="2939"/>
                        </a:lnSpc>
                        <a:buFont typeface="Arial"/>
                        <a:buChar char="•"/>
                        <a:defRPr/>
                      </a:pPr>
                      <a:r>
                        <a:rPr lang="en-US" sz="2099" spc="209">
                          <a:solidFill>
                            <a:srgbClr val="000000"/>
                          </a:solidFill>
                          <a:latin typeface="Open Sans"/>
                          <a:ea typeface="Open Sans"/>
                          <a:cs typeface="Open Sans"/>
                          <a:sym typeface="Open Sans"/>
                        </a:rPr>
                        <a:t>Plataforma de Microservicios Operacional: Arquitectura completa de microservicios sobre GCP para alta escalabilidad.</a:t>
                      </a:r>
                      <a:endParaRPr lang="en-US" sz="1100"/>
                    </a:p>
                    <a:p>
                      <a:pPr algn="l" marL="453388" indent="-226694" lvl="1">
                        <a:lnSpc>
                          <a:spcPts val="2939"/>
                        </a:lnSpc>
                        <a:buFont typeface="Arial"/>
                        <a:buChar char="•"/>
                      </a:pPr>
                      <a:r>
                        <a:rPr lang="en-US" sz="2099" spc="209">
                          <a:solidFill>
                            <a:srgbClr val="000000"/>
                          </a:solidFill>
                          <a:latin typeface="Open Sans"/>
                          <a:ea typeface="Open Sans"/>
                          <a:cs typeface="Open Sans"/>
                          <a:sym typeface="Open Sans"/>
                        </a:rPr>
                        <a:t>Aprendizaje Adaptativo Funcional: Integración con Google Gemini para la generación dinámica de contenido, asegurando una ruta de aprendizaje única y personalizada para el estudiante.</a:t>
                      </a:r>
                    </a:p>
                    <a:p>
                      <a:pPr algn="l" marL="453388" indent="-226694" lvl="1">
                        <a:lnSpc>
                          <a:spcPts val="2939"/>
                        </a:lnSpc>
                        <a:buFont typeface="Arial"/>
                        <a:buChar char="•"/>
                      </a:pPr>
                      <a:r>
                        <a:rPr lang="en-US" sz="2099" spc="209">
                          <a:solidFill>
                            <a:srgbClr val="000000"/>
                          </a:solidFill>
                          <a:latin typeface="Open Sans"/>
                          <a:ea typeface="Open Sans"/>
                          <a:cs typeface="Open Sans"/>
                          <a:sym typeface="Open Sans"/>
                        </a:rPr>
                        <a:t>Gamificación Esencial: Implementación de mecánicas de juego base  con puntajes y rankings para impulsar el compromiso.</a:t>
                      </a:r>
                    </a:p>
                    <a:p>
                      <a:pPr algn="l">
                        <a:lnSpc>
                          <a:spcPts val="2939"/>
                        </a:lnSpc>
                      </a:pPr>
                    </a:p>
                  </a:txBody>
                  <a:tcPr marL="190500" marR="190500" marT="190500" marB="190500" anchor="ctr">
                    <a:lnL cmpd="sng" algn="ctr" cap="flat" w="28575">
                      <a:solidFill>
                        <a:srgbClr val="363062"/>
                      </a:solidFill>
                      <a:prstDash val="solid"/>
                      <a:round/>
                      <a:headEnd type="none" w="med" len="med"/>
                      <a:tailEnd type="none" w="med" len="med"/>
                    </a:lnL>
                    <a:lnR cmpd="sng" algn="ctr" cap="flat" w="28575">
                      <a:solidFill>
                        <a:srgbClr val="363062"/>
                      </a:solidFill>
                      <a:prstDash val="solid"/>
                      <a:round/>
                      <a:headEnd type="none" w="med" len="med"/>
                      <a:tailEnd type="none" w="med" len="med"/>
                    </a:lnR>
                    <a:lnT cmpd="sng" algn="ctr" cap="flat" w="28575">
                      <a:solidFill>
                        <a:srgbClr val="363062"/>
                      </a:solidFill>
                      <a:prstDash val="solid"/>
                      <a:round/>
                      <a:headEnd type="none" w="med" len="med"/>
                      <a:tailEnd type="none" w="med" len="med"/>
                    </a:lnT>
                    <a:lnB cmpd="sng" algn="ctr" cap="flat" w="28575">
                      <a:solidFill>
                        <a:srgbClr val="363062"/>
                      </a:solidFill>
                      <a:prstDash val="solid"/>
                      <a:round/>
                      <a:headEnd type="none" w="med" len="med"/>
                      <a:tailEnd type="none" w="med" len="med"/>
                    </a:lnB>
                    <a:solidFill>
                      <a:srgbClr val="FFFFFF"/>
                    </a:solidFill>
                  </a:tcPr>
                </a:tc>
              </a:tr>
              <a:tr h="3571875">
                <a:tc>
                  <a:txBody>
                    <a:bodyPr anchor="t" rtlCol="false"/>
                    <a:lstStyle/>
                    <a:p>
                      <a:pPr algn="ctr">
                        <a:lnSpc>
                          <a:spcPts val="2939"/>
                        </a:lnSpc>
                        <a:defRPr/>
                      </a:pPr>
                      <a:r>
                        <a:rPr lang="en-US" b="true" sz="2099" spc="104">
                          <a:solidFill>
                            <a:srgbClr val="FFFFFF"/>
                          </a:solidFill>
                          <a:latin typeface="Montserrat Bold"/>
                          <a:ea typeface="Montserrat Bold"/>
                          <a:cs typeface="Montserrat Bold"/>
                          <a:sym typeface="Montserrat Bold"/>
                        </a:rPr>
                        <a:t>Limitaciones</a:t>
                      </a:r>
                      <a:endParaRPr lang="en-US" sz="1100"/>
                    </a:p>
                  </a:txBody>
                  <a:tcPr marL="190500" marR="190500" marT="190500" marB="190500" anchor="ctr">
                    <a:lnL cmpd="sng" algn="ctr" cap="flat" w="28575">
                      <a:solidFill>
                        <a:srgbClr val="363062"/>
                      </a:solidFill>
                      <a:prstDash val="solid"/>
                      <a:round/>
                      <a:headEnd type="none" w="med" len="med"/>
                      <a:tailEnd type="none" w="med" len="med"/>
                    </a:lnL>
                    <a:lnR cmpd="sng" algn="ctr" cap="flat" w="28575">
                      <a:solidFill>
                        <a:srgbClr val="363062"/>
                      </a:solidFill>
                      <a:prstDash val="solid"/>
                      <a:round/>
                      <a:headEnd type="none" w="med" len="med"/>
                      <a:tailEnd type="none" w="med" len="med"/>
                    </a:lnR>
                    <a:lnT cmpd="sng" algn="ctr" cap="flat" w="28575">
                      <a:solidFill>
                        <a:srgbClr val="363062"/>
                      </a:solidFill>
                      <a:prstDash val="solid"/>
                      <a:round/>
                      <a:headEnd type="none" w="med" len="med"/>
                      <a:tailEnd type="none" w="med" len="med"/>
                    </a:lnT>
                    <a:lnB cmpd="sng" algn="ctr" cap="flat" w="28575">
                      <a:solidFill>
                        <a:srgbClr val="363062"/>
                      </a:solidFill>
                      <a:prstDash val="solid"/>
                      <a:round/>
                      <a:headEnd type="none" w="med" len="med"/>
                      <a:tailEnd type="none" w="med" len="med"/>
                    </a:lnB>
                    <a:solidFill>
                      <a:srgbClr val="9BB8B0"/>
                    </a:solidFill>
                  </a:tcPr>
                </a:tc>
                <a:tc>
                  <a:txBody>
                    <a:bodyPr anchor="t" rtlCol="false"/>
                    <a:lstStyle/>
                    <a:p>
                      <a:pPr algn="l" marL="453388" indent="-226694" lvl="1">
                        <a:lnSpc>
                          <a:spcPts val="2939"/>
                        </a:lnSpc>
                        <a:buFont typeface="Arial"/>
                        <a:buChar char="•"/>
                        <a:defRPr/>
                      </a:pPr>
                      <a:r>
                        <a:rPr lang="en-US" sz="2099" spc="209">
                          <a:solidFill>
                            <a:srgbClr val="000000"/>
                          </a:solidFill>
                          <a:latin typeface="Open Sans"/>
                          <a:ea typeface="Open Sans"/>
                          <a:cs typeface="Open Sans"/>
                          <a:sym typeface="Open Sans"/>
                        </a:rPr>
                        <a:t>Contenido 100% IA: La dependencia en el contenido generado por IA (Gemini) es complementaria; el banco de preguntas esencial debe ser precargado por el profesor para la validación inicial del currículum.</a:t>
                      </a:r>
                      <a:endParaRPr lang="en-US" sz="1100"/>
                    </a:p>
                    <a:p>
                      <a:pPr algn="l" marL="453388" indent="-226694" lvl="1">
                        <a:lnSpc>
                          <a:spcPts val="2939"/>
                        </a:lnSpc>
                        <a:buFont typeface="Arial"/>
                        <a:buChar char="•"/>
                      </a:pPr>
                      <a:r>
                        <a:rPr lang="en-US" sz="2099" spc="209">
                          <a:solidFill>
                            <a:srgbClr val="000000"/>
                          </a:solidFill>
                          <a:latin typeface="Open Sans"/>
                          <a:ea typeface="Open Sans"/>
                          <a:cs typeface="Open Sans"/>
                          <a:sym typeface="Open Sans"/>
                        </a:rPr>
                        <a:t>Juegos Limitados: El MVP se enfoca en juegos específicos de alto valor pedagógico, limitando la diversidad a futuro.</a:t>
                      </a:r>
                    </a:p>
                    <a:p>
                      <a:pPr algn="l" marL="453388" indent="-226694" lvl="1">
                        <a:lnSpc>
                          <a:spcPts val="2939"/>
                        </a:lnSpc>
                        <a:buFont typeface="Arial"/>
                        <a:buChar char="•"/>
                      </a:pPr>
                      <a:r>
                        <a:rPr lang="en-US" sz="2099" spc="209">
                          <a:solidFill>
                            <a:srgbClr val="000000"/>
                          </a:solidFill>
                          <a:latin typeface="Open Sans"/>
                          <a:ea typeface="Open Sans"/>
                          <a:cs typeface="Open Sans"/>
                          <a:sym typeface="Open Sans"/>
                        </a:rPr>
                        <a:t>Adopción Institucional: El éxito depende fuertemente de la disposición institucional y docente para migrar sus metodologías de repaso a la plataforma digital.</a:t>
                      </a:r>
                    </a:p>
                  </a:txBody>
                  <a:tcPr marL="190500" marR="190500" marT="190500" marB="190500" anchor="ctr">
                    <a:lnL cmpd="sng" algn="ctr" cap="flat" w="28575">
                      <a:solidFill>
                        <a:srgbClr val="363062"/>
                      </a:solidFill>
                      <a:prstDash val="solid"/>
                      <a:round/>
                      <a:headEnd type="none" w="med" len="med"/>
                      <a:tailEnd type="none" w="med" len="med"/>
                    </a:lnL>
                    <a:lnR cmpd="sng" algn="ctr" cap="flat" w="28575">
                      <a:solidFill>
                        <a:srgbClr val="363062"/>
                      </a:solidFill>
                      <a:prstDash val="solid"/>
                      <a:round/>
                      <a:headEnd type="none" w="med" len="med"/>
                      <a:tailEnd type="none" w="med" len="med"/>
                    </a:lnR>
                    <a:lnT cmpd="sng" algn="ctr" cap="flat" w="28575">
                      <a:solidFill>
                        <a:srgbClr val="363062"/>
                      </a:solidFill>
                      <a:prstDash val="solid"/>
                      <a:round/>
                      <a:headEnd type="none" w="med" len="med"/>
                      <a:tailEnd type="none" w="med" len="med"/>
                    </a:lnT>
                    <a:lnB cmpd="sng" algn="ctr" cap="flat" w="28575">
                      <a:solidFill>
                        <a:srgbClr val="363062"/>
                      </a:solidFill>
                      <a:prstDash val="solid"/>
                      <a:round/>
                      <a:headEnd type="none" w="med" len="med"/>
                      <a:tailEnd type="none" w="med" len="med"/>
                    </a:lnB>
                    <a:solidFill>
                      <a:srgbClr val="FFFFFF"/>
                    </a:solidFill>
                  </a:tcPr>
                </a:tc>
              </a:tr>
            </a:tbl>
          </a:graphicData>
        </a:graphic>
      </p:graphicFrame>
      <p:sp>
        <p:nvSpPr>
          <p:cNvPr name="TextBox 4" id="4"/>
          <p:cNvSpPr txBox="true"/>
          <p:nvPr/>
        </p:nvSpPr>
        <p:spPr>
          <a:xfrm rot="0">
            <a:off x="1014593" y="1076325"/>
            <a:ext cx="16258815" cy="1244599"/>
          </a:xfrm>
          <a:prstGeom prst="rect">
            <a:avLst/>
          </a:prstGeom>
        </p:spPr>
        <p:txBody>
          <a:bodyPr anchor="t" rtlCol="false" tIns="0" lIns="0" bIns="0" rIns="0">
            <a:spAutoFit/>
          </a:bodyPr>
          <a:lstStyle/>
          <a:p>
            <a:pPr algn="ctr" marL="0" indent="0" lvl="0">
              <a:lnSpc>
                <a:spcPts val="9774"/>
              </a:lnSpc>
            </a:pPr>
            <a:r>
              <a:rPr lang="en-US" b="true" sz="8499">
                <a:solidFill>
                  <a:srgbClr val="433878"/>
                </a:solidFill>
                <a:latin typeface="Montserrat Ultra-Bold"/>
                <a:ea typeface="Montserrat Ultra-Bold"/>
                <a:cs typeface="Montserrat Ultra-Bold"/>
                <a:sym typeface="Montserrat Ultra-Bold"/>
              </a:rPr>
              <a:t>ALCANCES</a:t>
            </a:r>
          </a:p>
        </p:txBody>
      </p:sp>
      <p:sp>
        <p:nvSpPr>
          <p:cNvPr name="Freeform 5" id="5"/>
          <p:cNvSpPr/>
          <p:nvPr/>
        </p:nvSpPr>
        <p:spPr>
          <a:xfrm flipH="false" flipV="false" rot="0">
            <a:off x="16049579" y="573403"/>
            <a:ext cx="1728003" cy="1315254"/>
          </a:xfrm>
          <a:custGeom>
            <a:avLst/>
            <a:gdLst/>
            <a:ahLst/>
            <a:cxnLst/>
            <a:rect r="r" b="b" t="t" l="l"/>
            <a:pathLst>
              <a:path h="1315254" w="1728003">
                <a:moveTo>
                  <a:pt x="0" y="0"/>
                </a:moveTo>
                <a:lnTo>
                  <a:pt x="1728003" y="0"/>
                </a:lnTo>
                <a:lnTo>
                  <a:pt x="1728003" y="1315254"/>
                </a:lnTo>
                <a:lnTo>
                  <a:pt x="0" y="1315254"/>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49508" y="2997239"/>
            <a:ext cx="9051198" cy="8564696"/>
          </a:xfrm>
          <a:custGeom>
            <a:avLst/>
            <a:gdLst/>
            <a:ahLst/>
            <a:cxnLst/>
            <a:rect r="r" b="b" t="t" l="l"/>
            <a:pathLst>
              <a:path h="8564696" w="9051198">
                <a:moveTo>
                  <a:pt x="0" y="0"/>
                </a:moveTo>
                <a:lnTo>
                  <a:pt x="9051198" y="0"/>
                </a:lnTo>
                <a:lnTo>
                  <a:pt x="9051198" y="8564696"/>
                </a:lnTo>
                <a:lnTo>
                  <a:pt x="0" y="85646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827270" y="0"/>
            <a:ext cx="0" cy="3667675"/>
          </a:xfrm>
          <a:prstGeom prst="line">
            <a:avLst/>
          </a:prstGeom>
          <a:ln cap="flat" w="57150">
            <a:solidFill>
              <a:srgbClr val="A594F9"/>
            </a:solidFill>
            <a:prstDash val="solid"/>
            <a:headEnd type="none" len="sm" w="sm"/>
            <a:tailEnd type="none" len="sm" w="sm"/>
          </a:ln>
        </p:spPr>
      </p:sp>
      <p:sp>
        <p:nvSpPr>
          <p:cNvPr name="Freeform 4" id="4"/>
          <p:cNvSpPr/>
          <p:nvPr/>
        </p:nvSpPr>
        <p:spPr>
          <a:xfrm flipH="false" flipV="false" rot="0">
            <a:off x="1028700" y="835685"/>
            <a:ext cx="516190" cy="516190"/>
          </a:xfrm>
          <a:custGeom>
            <a:avLst/>
            <a:gdLst/>
            <a:ahLst/>
            <a:cxnLst/>
            <a:rect r="r" b="b" t="t" l="l"/>
            <a:pathLst>
              <a:path h="516190" w="516190">
                <a:moveTo>
                  <a:pt x="0" y="0"/>
                </a:moveTo>
                <a:lnTo>
                  <a:pt x="516190" y="0"/>
                </a:lnTo>
                <a:lnTo>
                  <a:pt x="516190" y="516190"/>
                </a:lnTo>
                <a:lnTo>
                  <a:pt x="0" y="5161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1476851"/>
            <a:ext cx="5494783" cy="776605"/>
          </a:xfrm>
          <a:prstGeom prst="rect">
            <a:avLst/>
          </a:prstGeom>
        </p:spPr>
        <p:txBody>
          <a:bodyPr anchor="t" rtlCol="false" tIns="0" lIns="0" bIns="0" rIns="0">
            <a:spAutoFit/>
          </a:bodyPr>
          <a:lstStyle/>
          <a:p>
            <a:pPr algn="l" marL="0" indent="0" lvl="0">
              <a:lnSpc>
                <a:spcPts val="6095"/>
              </a:lnSpc>
            </a:pPr>
            <a:r>
              <a:rPr lang="en-US" b="true" sz="5300">
                <a:solidFill>
                  <a:srgbClr val="433878"/>
                </a:solidFill>
                <a:latin typeface="Montserrat Ultra-Bold"/>
                <a:ea typeface="Montserrat Ultra-Bold"/>
                <a:cs typeface="Montserrat Ultra-Bold"/>
                <a:sym typeface="Montserrat Ultra-Bold"/>
              </a:rPr>
              <a:t>METODOLOGÍA</a:t>
            </a:r>
          </a:p>
        </p:txBody>
      </p:sp>
      <p:sp>
        <p:nvSpPr>
          <p:cNvPr name="Freeform 6" id="6"/>
          <p:cNvSpPr/>
          <p:nvPr/>
        </p:nvSpPr>
        <p:spPr>
          <a:xfrm flipH="false" flipV="false" rot="0">
            <a:off x="6825979" y="4910437"/>
            <a:ext cx="5050632" cy="321978"/>
          </a:xfrm>
          <a:custGeom>
            <a:avLst/>
            <a:gdLst/>
            <a:ahLst/>
            <a:cxnLst/>
            <a:rect r="r" b="b" t="t" l="l"/>
            <a:pathLst>
              <a:path h="321978" w="5050632">
                <a:moveTo>
                  <a:pt x="0" y="0"/>
                </a:moveTo>
                <a:lnTo>
                  <a:pt x="5050632" y="0"/>
                </a:lnTo>
                <a:lnTo>
                  <a:pt x="5050632" y="321977"/>
                </a:lnTo>
                <a:lnTo>
                  <a:pt x="0" y="321977"/>
                </a:lnTo>
                <a:lnTo>
                  <a:pt x="0" y="0"/>
                </a:lnTo>
                <a:close/>
              </a:path>
            </a:pathLst>
          </a:custGeom>
          <a:blipFill>
            <a:blip r:embed="rId6"/>
            <a:stretch>
              <a:fillRect l="0" t="0" r="0" b="0"/>
            </a:stretch>
          </a:blipFill>
        </p:spPr>
      </p:sp>
      <p:sp>
        <p:nvSpPr>
          <p:cNvPr name="Freeform 7" id="7"/>
          <p:cNvSpPr/>
          <p:nvPr/>
        </p:nvSpPr>
        <p:spPr>
          <a:xfrm flipH="false" flipV="false" rot="0">
            <a:off x="6825979" y="9190096"/>
            <a:ext cx="5050632" cy="321978"/>
          </a:xfrm>
          <a:custGeom>
            <a:avLst/>
            <a:gdLst/>
            <a:ahLst/>
            <a:cxnLst/>
            <a:rect r="r" b="b" t="t" l="l"/>
            <a:pathLst>
              <a:path h="321978" w="5050632">
                <a:moveTo>
                  <a:pt x="0" y="0"/>
                </a:moveTo>
                <a:lnTo>
                  <a:pt x="5050632" y="0"/>
                </a:lnTo>
                <a:lnTo>
                  <a:pt x="5050632" y="321978"/>
                </a:lnTo>
                <a:lnTo>
                  <a:pt x="0" y="321978"/>
                </a:lnTo>
                <a:lnTo>
                  <a:pt x="0" y="0"/>
                </a:lnTo>
                <a:close/>
              </a:path>
            </a:pathLst>
          </a:custGeom>
          <a:blipFill>
            <a:blip r:embed="rId6"/>
            <a:stretch>
              <a:fillRect l="0" t="0" r="0" b="0"/>
            </a:stretch>
          </a:blipFill>
        </p:spPr>
      </p:sp>
      <p:sp>
        <p:nvSpPr>
          <p:cNvPr name="Freeform 8" id="8"/>
          <p:cNvSpPr/>
          <p:nvPr/>
        </p:nvSpPr>
        <p:spPr>
          <a:xfrm flipH="false" flipV="false" rot="0">
            <a:off x="12208668" y="4910437"/>
            <a:ext cx="5050632" cy="321978"/>
          </a:xfrm>
          <a:custGeom>
            <a:avLst/>
            <a:gdLst/>
            <a:ahLst/>
            <a:cxnLst/>
            <a:rect r="r" b="b" t="t" l="l"/>
            <a:pathLst>
              <a:path h="321978" w="5050632">
                <a:moveTo>
                  <a:pt x="0" y="0"/>
                </a:moveTo>
                <a:lnTo>
                  <a:pt x="5050632" y="0"/>
                </a:lnTo>
                <a:lnTo>
                  <a:pt x="5050632" y="321977"/>
                </a:lnTo>
                <a:lnTo>
                  <a:pt x="0" y="321977"/>
                </a:lnTo>
                <a:lnTo>
                  <a:pt x="0" y="0"/>
                </a:lnTo>
                <a:close/>
              </a:path>
            </a:pathLst>
          </a:custGeom>
          <a:blipFill>
            <a:blip r:embed="rId6"/>
            <a:stretch>
              <a:fillRect l="0" t="0" r="0" b="0"/>
            </a:stretch>
          </a:blipFill>
        </p:spPr>
      </p:sp>
      <p:sp>
        <p:nvSpPr>
          <p:cNvPr name="Freeform 9" id="9"/>
          <p:cNvSpPr/>
          <p:nvPr/>
        </p:nvSpPr>
        <p:spPr>
          <a:xfrm flipH="false" flipV="false" rot="0">
            <a:off x="12208668" y="9190096"/>
            <a:ext cx="5050632" cy="321978"/>
          </a:xfrm>
          <a:custGeom>
            <a:avLst/>
            <a:gdLst/>
            <a:ahLst/>
            <a:cxnLst/>
            <a:rect r="r" b="b" t="t" l="l"/>
            <a:pathLst>
              <a:path h="321978" w="5050632">
                <a:moveTo>
                  <a:pt x="0" y="0"/>
                </a:moveTo>
                <a:lnTo>
                  <a:pt x="5050632" y="0"/>
                </a:lnTo>
                <a:lnTo>
                  <a:pt x="5050632" y="321978"/>
                </a:lnTo>
                <a:lnTo>
                  <a:pt x="0" y="321978"/>
                </a:lnTo>
                <a:lnTo>
                  <a:pt x="0" y="0"/>
                </a:lnTo>
                <a:close/>
              </a:path>
            </a:pathLst>
          </a:custGeom>
          <a:blipFill>
            <a:blip r:embed="rId6"/>
            <a:stretch>
              <a:fillRect l="0" t="0" r="0" b="0"/>
            </a:stretch>
          </a:blipFill>
        </p:spPr>
      </p:sp>
      <p:grpSp>
        <p:nvGrpSpPr>
          <p:cNvPr name="Group 10" id="10"/>
          <p:cNvGrpSpPr/>
          <p:nvPr/>
        </p:nvGrpSpPr>
        <p:grpSpPr>
          <a:xfrm rot="0">
            <a:off x="6825979" y="1028700"/>
            <a:ext cx="5050632" cy="3937078"/>
            <a:chOff x="0" y="0"/>
            <a:chExt cx="1330208" cy="1036926"/>
          </a:xfrm>
        </p:grpSpPr>
        <p:sp>
          <p:nvSpPr>
            <p:cNvPr name="Freeform 11" id="11"/>
            <p:cNvSpPr/>
            <p:nvPr/>
          </p:nvSpPr>
          <p:spPr>
            <a:xfrm flipH="false" flipV="false" rot="0">
              <a:off x="0" y="0"/>
              <a:ext cx="1330208" cy="1036926"/>
            </a:xfrm>
            <a:custGeom>
              <a:avLst/>
              <a:gdLst/>
              <a:ahLst/>
              <a:cxnLst/>
              <a:rect r="r" b="b" t="t" l="l"/>
              <a:pathLst>
                <a:path h="1036926" w="1330208">
                  <a:moveTo>
                    <a:pt x="30657" y="0"/>
                  </a:moveTo>
                  <a:lnTo>
                    <a:pt x="1299550" y="0"/>
                  </a:lnTo>
                  <a:cubicBezTo>
                    <a:pt x="1316482" y="0"/>
                    <a:pt x="1330208" y="13726"/>
                    <a:pt x="1330208" y="30657"/>
                  </a:cubicBezTo>
                  <a:lnTo>
                    <a:pt x="1330208" y="1006269"/>
                  </a:lnTo>
                  <a:cubicBezTo>
                    <a:pt x="1330208" y="1014400"/>
                    <a:pt x="1326978" y="1022197"/>
                    <a:pt x="1321228" y="1027947"/>
                  </a:cubicBezTo>
                  <a:cubicBezTo>
                    <a:pt x="1315479" y="1033696"/>
                    <a:pt x="1307681" y="1036926"/>
                    <a:pt x="1299550" y="1036926"/>
                  </a:cubicBezTo>
                  <a:lnTo>
                    <a:pt x="30657" y="1036926"/>
                  </a:lnTo>
                  <a:cubicBezTo>
                    <a:pt x="22526" y="1036926"/>
                    <a:pt x="14729" y="1033696"/>
                    <a:pt x="8979" y="1027947"/>
                  </a:cubicBezTo>
                  <a:cubicBezTo>
                    <a:pt x="3230" y="1022197"/>
                    <a:pt x="0" y="1014400"/>
                    <a:pt x="0" y="1006269"/>
                  </a:cubicBezTo>
                  <a:lnTo>
                    <a:pt x="0" y="30657"/>
                  </a:lnTo>
                  <a:cubicBezTo>
                    <a:pt x="0" y="22526"/>
                    <a:pt x="3230" y="14729"/>
                    <a:pt x="8979" y="8979"/>
                  </a:cubicBezTo>
                  <a:cubicBezTo>
                    <a:pt x="14729" y="3230"/>
                    <a:pt x="22526" y="0"/>
                    <a:pt x="30657" y="0"/>
                  </a:cubicBezTo>
                  <a:close/>
                </a:path>
              </a:pathLst>
            </a:custGeom>
            <a:solidFill>
              <a:srgbClr val="F5EFFF"/>
            </a:solidFill>
            <a:ln w="57150" cap="sq">
              <a:solidFill>
                <a:srgbClr val="433878"/>
              </a:solidFill>
              <a:prstDash val="solid"/>
              <a:miter/>
            </a:ln>
          </p:spPr>
        </p:sp>
        <p:sp>
          <p:nvSpPr>
            <p:cNvPr name="TextBox 12" id="12"/>
            <p:cNvSpPr txBox="true"/>
            <p:nvPr/>
          </p:nvSpPr>
          <p:spPr>
            <a:xfrm>
              <a:off x="0" y="-38100"/>
              <a:ext cx="1330208" cy="107502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825979" y="5321222"/>
            <a:ext cx="5050632" cy="3937078"/>
            <a:chOff x="0" y="0"/>
            <a:chExt cx="1330208" cy="1036926"/>
          </a:xfrm>
        </p:grpSpPr>
        <p:sp>
          <p:nvSpPr>
            <p:cNvPr name="Freeform 14" id="14"/>
            <p:cNvSpPr/>
            <p:nvPr/>
          </p:nvSpPr>
          <p:spPr>
            <a:xfrm flipH="false" flipV="false" rot="0">
              <a:off x="0" y="0"/>
              <a:ext cx="1330208" cy="1036926"/>
            </a:xfrm>
            <a:custGeom>
              <a:avLst/>
              <a:gdLst/>
              <a:ahLst/>
              <a:cxnLst/>
              <a:rect r="r" b="b" t="t" l="l"/>
              <a:pathLst>
                <a:path h="1036926" w="1330208">
                  <a:moveTo>
                    <a:pt x="30657" y="0"/>
                  </a:moveTo>
                  <a:lnTo>
                    <a:pt x="1299550" y="0"/>
                  </a:lnTo>
                  <a:cubicBezTo>
                    <a:pt x="1316482" y="0"/>
                    <a:pt x="1330208" y="13726"/>
                    <a:pt x="1330208" y="30657"/>
                  </a:cubicBezTo>
                  <a:lnTo>
                    <a:pt x="1330208" y="1006269"/>
                  </a:lnTo>
                  <a:cubicBezTo>
                    <a:pt x="1330208" y="1014400"/>
                    <a:pt x="1326978" y="1022197"/>
                    <a:pt x="1321228" y="1027947"/>
                  </a:cubicBezTo>
                  <a:cubicBezTo>
                    <a:pt x="1315479" y="1033696"/>
                    <a:pt x="1307681" y="1036926"/>
                    <a:pt x="1299550" y="1036926"/>
                  </a:cubicBezTo>
                  <a:lnTo>
                    <a:pt x="30657" y="1036926"/>
                  </a:lnTo>
                  <a:cubicBezTo>
                    <a:pt x="22526" y="1036926"/>
                    <a:pt x="14729" y="1033696"/>
                    <a:pt x="8979" y="1027947"/>
                  </a:cubicBezTo>
                  <a:cubicBezTo>
                    <a:pt x="3230" y="1022197"/>
                    <a:pt x="0" y="1014400"/>
                    <a:pt x="0" y="1006269"/>
                  </a:cubicBezTo>
                  <a:lnTo>
                    <a:pt x="0" y="30657"/>
                  </a:lnTo>
                  <a:cubicBezTo>
                    <a:pt x="0" y="22526"/>
                    <a:pt x="3230" y="14729"/>
                    <a:pt x="8979" y="8979"/>
                  </a:cubicBezTo>
                  <a:cubicBezTo>
                    <a:pt x="14729" y="3230"/>
                    <a:pt x="22526" y="0"/>
                    <a:pt x="30657" y="0"/>
                  </a:cubicBezTo>
                  <a:close/>
                </a:path>
              </a:pathLst>
            </a:custGeom>
            <a:solidFill>
              <a:srgbClr val="FFFFFF"/>
            </a:solidFill>
            <a:ln w="57150" cap="sq">
              <a:solidFill>
                <a:srgbClr val="433878"/>
              </a:solidFill>
              <a:prstDash val="solid"/>
              <a:miter/>
            </a:ln>
          </p:spPr>
        </p:sp>
        <p:sp>
          <p:nvSpPr>
            <p:cNvPr name="TextBox 15" id="15"/>
            <p:cNvSpPr txBox="true"/>
            <p:nvPr/>
          </p:nvSpPr>
          <p:spPr>
            <a:xfrm>
              <a:off x="0" y="-38100"/>
              <a:ext cx="1330208" cy="1075026"/>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2208668" y="1028700"/>
            <a:ext cx="5050632" cy="3937078"/>
            <a:chOff x="0" y="0"/>
            <a:chExt cx="1330208" cy="1036926"/>
          </a:xfrm>
        </p:grpSpPr>
        <p:sp>
          <p:nvSpPr>
            <p:cNvPr name="Freeform 17" id="17"/>
            <p:cNvSpPr/>
            <p:nvPr/>
          </p:nvSpPr>
          <p:spPr>
            <a:xfrm flipH="false" flipV="false" rot="0">
              <a:off x="0" y="0"/>
              <a:ext cx="1330208" cy="1036926"/>
            </a:xfrm>
            <a:custGeom>
              <a:avLst/>
              <a:gdLst/>
              <a:ahLst/>
              <a:cxnLst/>
              <a:rect r="r" b="b" t="t" l="l"/>
              <a:pathLst>
                <a:path h="1036926" w="1330208">
                  <a:moveTo>
                    <a:pt x="30657" y="0"/>
                  </a:moveTo>
                  <a:lnTo>
                    <a:pt x="1299550" y="0"/>
                  </a:lnTo>
                  <a:cubicBezTo>
                    <a:pt x="1316482" y="0"/>
                    <a:pt x="1330208" y="13726"/>
                    <a:pt x="1330208" y="30657"/>
                  </a:cubicBezTo>
                  <a:lnTo>
                    <a:pt x="1330208" y="1006269"/>
                  </a:lnTo>
                  <a:cubicBezTo>
                    <a:pt x="1330208" y="1014400"/>
                    <a:pt x="1326978" y="1022197"/>
                    <a:pt x="1321228" y="1027947"/>
                  </a:cubicBezTo>
                  <a:cubicBezTo>
                    <a:pt x="1315479" y="1033696"/>
                    <a:pt x="1307681" y="1036926"/>
                    <a:pt x="1299550" y="1036926"/>
                  </a:cubicBezTo>
                  <a:lnTo>
                    <a:pt x="30657" y="1036926"/>
                  </a:lnTo>
                  <a:cubicBezTo>
                    <a:pt x="22526" y="1036926"/>
                    <a:pt x="14729" y="1033696"/>
                    <a:pt x="8979" y="1027947"/>
                  </a:cubicBezTo>
                  <a:cubicBezTo>
                    <a:pt x="3230" y="1022197"/>
                    <a:pt x="0" y="1014400"/>
                    <a:pt x="0" y="1006269"/>
                  </a:cubicBezTo>
                  <a:lnTo>
                    <a:pt x="0" y="30657"/>
                  </a:lnTo>
                  <a:cubicBezTo>
                    <a:pt x="0" y="22526"/>
                    <a:pt x="3230" y="14729"/>
                    <a:pt x="8979" y="8979"/>
                  </a:cubicBezTo>
                  <a:cubicBezTo>
                    <a:pt x="14729" y="3230"/>
                    <a:pt x="22526" y="0"/>
                    <a:pt x="30657" y="0"/>
                  </a:cubicBezTo>
                  <a:close/>
                </a:path>
              </a:pathLst>
            </a:custGeom>
            <a:solidFill>
              <a:srgbClr val="FFFFFF"/>
            </a:solidFill>
            <a:ln w="57150" cap="sq">
              <a:solidFill>
                <a:srgbClr val="433878"/>
              </a:solidFill>
              <a:prstDash val="solid"/>
              <a:miter/>
            </a:ln>
          </p:spPr>
        </p:sp>
        <p:sp>
          <p:nvSpPr>
            <p:cNvPr name="TextBox 18" id="18"/>
            <p:cNvSpPr txBox="true"/>
            <p:nvPr/>
          </p:nvSpPr>
          <p:spPr>
            <a:xfrm>
              <a:off x="0" y="-38100"/>
              <a:ext cx="1330208" cy="1075026"/>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2208668" y="5321222"/>
            <a:ext cx="5050632" cy="3937078"/>
            <a:chOff x="0" y="0"/>
            <a:chExt cx="1330208" cy="1036926"/>
          </a:xfrm>
        </p:grpSpPr>
        <p:sp>
          <p:nvSpPr>
            <p:cNvPr name="Freeform 20" id="20"/>
            <p:cNvSpPr/>
            <p:nvPr/>
          </p:nvSpPr>
          <p:spPr>
            <a:xfrm flipH="false" flipV="false" rot="0">
              <a:off x="0" y="0"/>
              <a:ext cx="1330208" cy="1036926"/>
            </a:xfrm>
            <a:custGeom>
              <a:avLst/>
              <a:gdLst/>
              <a:ahLst/>
              <a:cxnLst/>
              <a:rect r="r" b="b" t="t" l="l"/>
              <a:pathLst>
                <a:path h="1036926" w="1330208">
                  <a:moveTo>
                    <a:pt x="30657" y="0"/>
                  </a:moveTo>
                  <a:lnTo>
                    <a:pt x="1299550" y="0"/>
                  </a:lnTo>
                  <a:cubicBezTo>
                    <a:pt x="1316482" y="0"/>
                    <a:pt x="1330208" y="13726"/>
                    <a:pt x="1330208" y="30657"/>
                  </a:cubicBezTo>
                  <a:lnTo>
                    <a:pt x="1330208" y="1006269"/>
                  </a:lnTo>
                  <a:cubicBezTo>
                    <a:pt x="1330208" y="1014400"/>
                    <a:pt x="1326978" y="1022197"/>
                    <a:pt x="1321228" y="1027947"/>
                  </a:cubicBezTo>
                  <a:cubicBezTo>
                    <a:pt x="1315479" y="1033696"/>
                    <a:pt x="1307681" y="1036926"/>
                    <a:pt x="1299550" y="1036926"/>
                  </a:cubicBezTo>
                  <a:lnTo>
                    <a:pt x="30657" y="1036926"/>
                  </a:lnTo>
                  <a:cubicBezTo>
                    <a:pt x="22526" y="1036926"/>
                    <a:pt x="14729" y="1033696"/>
                    <a:pt x="8979" y="1027947"/>
                  </a:cubicBezTo>
                  <a:cubicBezTo>
                    <a:pt x="3230" y="1022197"/>
                    <a:pt x="0" y="1014400"/>
                    <a:pt x="0" y="1006269"/>
                  </a:cubicBezTo>
                  <a:lnTo>
                    <a:pt x="0" y="30657"/>
                  </a:lnTo>
                  <a:cubicBezTo>
                    <a:pt x="0" y="22526"/>
                    <a:pt x="3230" y="14729"/>
                    <a:pt x="8979" y="8979"/>
                  </a:cubicBezTo>
                  <a:cubicBezTo>
                    <a:pt x="14729" y="3230"/>
                    <a:pt x="22526" y="0"/>
                    <a:pt x="30657" y="0"/>
                  </a:cubicBezTo>
                  <a:close/>
                </a:path>
              </a:pathLst>
            </a:custGeom>
            <a:solidFill>
              <a:srgbClr val="F5EFFF"/>
            </a:solidFill>
            <a:ln w="57150" cap="sq">
              <a:solidFill>
                <a:srgbClr val="433878"/>
              </a:solidFill>
              <a:prstDash val="solid"/>
              <a:miter/>
            </a:ln>
          </p:spPr>
        </p:sp>
        <p:sp>
          <p:nvSpPr>
            <p:cNvPr name="TextBox 21" id="21"/>
            <p:cNvSpPr txBox="true"/>
            <p:nvPr/>
          </p:nvSpPr>
          <p:spPr>
            <a:xfrm>
              <a:off x="0" y="-38100"/>
              <a:ext cx="1330208" cy="1075026"/>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7148338" y="4062712"/>
            <a:ext cx="4435476" cy="762000"/>
          </a:xfrm>
          <a:prstGeom prst="rect">
            <a:avLst/>
          </a:prstGeom>
        </p:spPr>
        <p:txBody>
          <a:bodyPr anchor="t" rtlCol="false" tIns="0" lIns="0" bIns="0" rIns="0">
            <a:spAutoFit/>
          </a:bodyPr>
          <a:lstStyle/>
          <a:p>
            <a:pPr algn="l" marL="0" indent="0" lvl="0">
              <a:lnSpc>
                <a:spcPts val="3000"/>
              </a:lnSpc>
            </a:pPr>
            <a:r>
              <a:rPr lang="en-US" b="true" sz="2500" spc="250">
                <a:solidFill>
                  <a:srgbClr val="433878"/>
                </a:solidFill>
                <a:latin typeface="Montserrat Bold"/>
                <a:ea typeface="Montserrat Bold"/>
                <a:cs typeface="Montserrat Bold"/>
                <a:sym typeface="Montserrat Bold"/>
              </a:rPr>
              <a:t>Adaptabilidad al Cambio</a:t>
            </a:r>
          </a:p>
        </p:txBody>
      </p:sp>
      <p:sp>
        <p:nvSpPr>
          <p:cNvPr name="TextBox 23" id="23"/>
          <p:cNvSpPr txBox="true"/>
          <p:nvPr/>
        </p:nvSpPr>
        <p:spPr>
          <a:xfrm rot="0">
            <a:off x="7133557" y="8161396"/>
            <a:ext cx="4435476" cy="762000"/>
          </a:xfrm>
          <a:prstGeom prst="rect">
            <a:avLst/>
          </a:prstGeom>
        </p:spPr>
        <p:txBody>
          <a:bodyPr anchor="t" rtlCol="false" tIns="0" lIns="0" bIns="0" rIns="0">
            <a:spAutoFit/>
          </a:bodyPr>
          <a:lstStyle/>
          <a:p>
            <a:pPr algn="l" marL="0" indent="0" lvl="0">
              <a:lnSpc>
                <a:spcPts val="3000"/>
              </a:lnSpc>
            </a:pPr>
            <a:r>
              <a:rPr lang="en-US" b="true" sz="2500" spc="250">
                <a:solidFill>
                  <a:srgbClr val="433878"/>
                </a:solidFill>
                <a:latin typeface="Montserrat Bold"/>
                <a:ea typeface="Montserrat Bold"/>
                <a:cs typeface="Montserrat Bold"/>
                <a:sym typeface="Montserrat Bold"/>
              </a:rPr>
              <a:t>Transparencia y Visibilidad</a:t>
            </a:r>
          </a:p>
        </p:txBody>
      </p:sp>
      <p:sp>
        <p:nvSpPr>
          <p:cNvPr name="TextBox 24" id="24"/>
          <p:cNvSpPr txBox="true"/>
          <p:nvPr/>
        </p:nvSpPr>
        <p:spPr>
          <a:xfrm rot="0">
            <a:off x="12516246" y="4034137"/>
            <a:ext cx="4743054" cy="762000"/>
          </a:xfrm>
          <a:prstGeom prst="rect">
            <a:avLst/>
          </a:prstGeom>
        </p:spPr>
        <p:txBody>
          <a:bodyPr anchor="t" rtlCol="false" tIns="0" lIns="0" bIns="0" rIns="0">
            <a:spAutoFit/>
          </a:bodyPr>
          <a:lstStyle/>
          <a:p>
            <a:pPr algn="l" marL="0" indent="0" lvl="0">
              <a:lnSpc>
                <a:spcPts val="3000"/>
              </a:lnSpc>
            </a:pPr>
            <a:r>
              <a:rPr lang="en-US" b="true" sz="2500" spc="250">
                <a:solidFill>
                  <a:srgbClr val="433878"/>
                </a:solidFill>
                <a:latin typeface="Montserrat Bold"/>
                <a:ea typeface="Montserrat Bold"/>
                <a:cs typeface="Montserrat Bold"/>
                <a:sym typeface="Montserrat Bold"/>
              </a:rPr>
              <a:t>Entrega de Valor Temprana</a:t>
            </a:r>
          </a:p>
        </p:txBody>
      </p:sp>
      <p:sp>
        <p:nvSpPr>
          <p:cNvPr name="TextBox 25" id="25"/>
          <p:cNvSpPr txBox="true"/>
          <p:nvPr/>
        </p:nvSpPr>
        <p:spPr>
          <a:xfrm rot="0">
            <a:off x="12516246" y="8351896"/>
            <a:ext cx="4435476" cy="381000"/>
          </a:xfrm>
          <a:prstGeom prst="rect">
            <a:avLst/>
          </a:prstGeom>
        </p:spPr>
        <p:txBody>
          <a:bodyPr anchor="t" rtlCol="false" tIns="0" lIns="0" bIns="0" rIns="0">
            <a:spAutoFit/>
          </a:bodyPr>
          <a:lstStyle/>
          <a:p>
            <a:pPr algn="l" marL="0" indent="0" lvl="0">
              <a:lnSpc>
                <a:spcPts val="3000"/>
              </a:lnSpc>
            </a:pPr>
            <a:r>
              <a:rPr lang="en-US" b="true" sz="2500" spc="250">
                <a:solidFill>
                  <a:srgbClr val="433878"/>
                </a:solidFill>
                <a:latin typeface="Montserrat Bold"/>
                <a:ea typeface="Montserrat Bold"/>
                <a:cs typeface="Montserrat Bold"/>
                <a:sym typeface="Montserrat Bold"/>
              </a:rPr>
              <a:t>Gestión de Riesgos</a:t>
            </a:r>
          </a:p>
        </p:txBody>
      </p:sp>
      <p:sp>
        <p:nvSpPr>
          <p:cNvPr name="TextBox 26" id="26"/>
          <p:cNvSpPr txBox="true"/>
          <p:nvPr/>
        </p:nvSpPr>
        <p:spPr>
          <a:xfrm rot="0">
            <a:off x="6994548" y="1229956"/>
            <a:ext cx="4743054" cy="2722245"/>
          </a:xfrm>
          <a:prstGeom prst="rect">
            <a:avLst/>
          </a:prstGeom>
        </p:spPr>
        <p:txBody>
          <a:bodyPr anchor="t" rtlCol="false" tIns="0" lIns="0" bIns="0" rIns="0">
            <a:spAutoFit/>
          </a:bodyPr>
          <a:lstStyle/>
          <a:p>
            <a:pPr algn="ctr">
              <a:lnSpc>
                <a:spcPts val="2700"/>
              </a:lnSpc>
            </a:pPr>
            <a:r>
              <a:rPr lang="en-US" b="true" sz="1800" spc="360">
                <a:solidFill>
                  <a:srgbClr val="433878"/>
                </a:solidFill>
                <a:latin typeface="Open Sans Medium"/>
                <a:ea typeface="Open Sans Medium"/>
                <a:cs typeface="Open Sans Medium"/>
                <a:sym typeface="Open Sans Medium"/>
              </a:rPr>
              <a:t>Scrum permite la replanificación continua (sprints cortos). Esto asegura que las características de la plataforma se ajusten a las necesidades cambiantes del usuario final y del mercado educativo.</a:t>
            </a:r>
          </a:p>
        </p:txBody>
      </p:sp>
      <p:sp>
        <p:nvSpPr>
          <p:cNvPr name="TextBox 27" id="27"/>
          <p:cNvSpPr txBox="true"/>
          <p:nvPr/>
        </p:nvSpPr>
        <p:spPr>
          <a:xfrm rot="0">
            <a:off x="7133557" y="5515351"/>
            <a:ext cx="4435476" cy="2379345"/>
          </a:xfrm>
          <a:prstGeom prst="rect">
            <a:avLst/>
          </a:prstGeom>
        </p:spPr>
        <p:txBody>
          <a:bodyPr anchor="t" rtlCol="false" tIns="0" lIns="0" bIns="0" rIns="0">
            <a:spAutoFit/>
          </a:bodyPr>
          <a:lstStyle/>
          <a:p>
            <a:pPr algn="l">
              <a:lnSpc>
                <a:spcPts val="2700"/>
              </a:lnSpc>
            </a:pPr>
            <a:r>
              <a:rPr lang="en-US" sz="1800" spc="360" b="true">
                <a:solidFill>
                  <a:srgbClr val="433878"/>
                </a:solidFill>
                <a:latin typeface="Open Sans Medium"/>
                <a:ea typeface="Open Sans Medium"/>
                <a:cs typeface="Open Sans Medium"/>
                <a:sym typeface="Open Sans Medium"/>
              </a:rPr>
              <a:t>El uso de herramientas como el Product Backlog y las reuniones diarias  ofrece visibilidad total sobre el progreso, los impedimentos y el alcance del proyecto al equipo y a los stakeholders.</a:t>
            </a:r>
          </a:p>
        </p:txBody>
      </p:sp>
      <p:sp>
        <p:nvSpPr>
          <p:cNvPr name="TextBox 28" id="28"/>
          <p:cNvSpPr txBox="true"/>
          <p:nvPr/>
        </p:nvSpPr>
        <p:spPr>
          <a:xfrm rot="0">
            <a:off x="12516246" y="1288330"/>
            <a:ext cx="4435476" cy="2379345"/>
          </a:xfrm>
          <a:prstGeom prst="rect">
            <a:avLst/>
          </a:prstGeom>
        </p:spPr>
        <p:txBody>
          <a:bodyPr anchor="t" rtlCol="false" tIns="0" lIns="0" bIns="0" rIns="0">
            <a:spAutoFit/>
          </a:bodyPr>
          <a:lstStyle/>
          <a:p>
            <a:pPr algn="l">
              <a:lnSpc>
                <a:spcPts val="2700"/>
              </a:lnSpc>
            </a:pPr>
            <a:r>
              <a:rPr lang="en-US" sz="1800" spc="360" b="true">
                <a:solidFill>
                  <a:srgbClr val="433878"/>
                </a:solidFill>
                <a:latin typeface="Open Sans Medium"/>
                <a:ea typeface="Open Sans Medium"/>
                <a:cs typeface="Open Sans Medium"/>
                <a:sym typeface="Open Sans Medium"/>
              </a:rPr>
              <a:t>Se prioriza la entrega de un producto funcional de alto valor al final de cada sprint. Esto significa que las instituciones pueden ver y probar la funcionalidad de Brain Boost rápidamente.</a:t>
            </a:r>
          </a:p>
        </p:txBody>
      </p:sp>
      <p:sp>
        <p:nvSpPr>
          <p:cNvPr name="TextBox 29" id="29"/>
          <p:cNvSpPr txBox="true"/>
          <p:nvPr/>
        </p:nvSpPr>
        <p:spPr>
          <a:xfrm rot="0">
            <a:off x="12516246" y="5515351"/>
            <a:ext cx="4435476" cy="2722245"/>
          </a:xfrm>
          <a:prstGeom prst="rect">
            <a:avLst/>
          </a:prstGeom>
        </p:spPr>
        <p:txBody>
          <a:bodyPr anchor="t" rtlCol="false" tIns="0" lIns="0" bIns="0" rIns="0">
            <a:spAutoFit/>
          </a:bodyPr>
          <a:lstStyle/>
          <a:p>
            <a:pPr algn="l">
              <a:lnSpc>
                <a:spcPts val="2700"/>
              </a:lnSpc>
            </a:pPr>
            <a:r>
              <a:rPr lang="en-US" sz="1800" spc="360" b="true">
                <a:solidFill>
                  <a:srgbClr val="433878"/>
                </a:solidFill>
                <a:latin typeface="Open Sans Medium"/>
                <a:ea typeface="Open Sans Medium"/>
                <a:cs typeface="Open Sans Medium"/>
                <a:sym typeface="Open Sans Medium"/>
              </a:rPr>
              <a:t>La iteración constante en ciclos cortos  permite identificar y mitigar los riesgos técnicos y de negocio de manera temprana, antes de que se conviertan en problemas mayores.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48788" y="6541041"/>
            <a:ext cx="10039212" cy="5910586"/>
          </a:xfrm>
          <a:custGeom>
            <a:avLst/>
            <a:gdLst/>
            <a:ahLst/>
            <a:cxnLst/>
            <a:rect r="r" b="b" t="t" l="l"/>
            <a:pathLst>
              <a:path h="5910586" w="10039212">
                <a:moveTo>
                  <a:pt x="0" y="0"/>
                </a:moveTo>
                <a:lnTo>
                  <a:pt x="10039212" y="0"/>
                </a:lnTo>
                <a:lnTo>
                  <a:pt x="10039212" y="5910586"/>
                </a:lnTo>
                <a:lnTo>
                  <a:pt x="0" y="5910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47638" y="432202"/>
            <a:ext cx="16258815" cy="1194435"/>
          </a:xfrm>
          <a:prstGeom prst="rect">
            <a:avLst/>
          </a:prstGeom>
        </p:spPr>
        <p:txBody>
          <a:bodyPr anchor="t" rtlCol="false" tIns="0" lIns="0" bIns="0" rIns="0">
            <a:spAutoFit/>
          </a:bodyPr>
          <a:lstStyle/>
          <a:p>
            <a:pPr algn="ctr" marL="0" indent="0" lvl="0">
              <a:lnSpc>
                <a:spcPts val="9315"/>
              </a:lnSpc>
            </a:pPr>
            <a:r>
              <a:rPr lang="en-US" b="true" sz="8100">
                <a:solidFill>
                  <a:srgbClr val="433878"/>
                </a:solidFill>
                <a:latin typeface="Montserrat Ultra-Bold"/>
                <a:ea typeface="Montserrat Ultra-Bold"/>
                <a:cs typeface="Montserrat Ultra-Bold"/>
                <a:sym typeface="Montserrat Ultra-Bold"/>
              </a:rPr>
              <a:t>CRONOGRAMA</a:t>
            </a:r>
          </a:p>
        </p:txBody>
      </p:sp>
      <p:sp>
        <p:nvSpPr>
          <p:cNvPr name="Freeform 4" id="4"/>
          <p:cNvSpPr/>
          <p:nvPr/>
        </p:nvSpPr>
        <p:spPr>
          <a:xfrm flipH="false" flipV="false" rot="0">
            <a:off x="16395298" y="311384"/>
            <a:ext cx="1728003" cy="1315254"/>
          </a:xfrm>
          <a:custGeom>
            <a:avLst/>
            <a:gdLst/>
            <a:ahLst/>
            <a:cxnLst/>
            <a:rect r="r" b="b" t="t" l="l"/>
            <a:pathLst>
              <a:path h="1315254" w="1728003">
                <a:moveTo>
                  <a:pt x="0" y="0"/>
                </a:moveTo>
                <a:lnTo>
                  <a:pt x="1728004" y="0"/>
                </a:lnTo>
                <a:lnTo>
                  <a:pt x="1728004" y="1315253"/>
                </a:lnTo>
                <a:lnTo>
                  <a:pt x="0" y="1315253"/>
                </a:lnTo>
                <a:lnTo>
                  <a:pt x="0" y="0"/>
                </a:lnTo>
                <a:close/>
              </a:path>
            </a:pathLst>
          </a:custGeom>
          <a:blipFill>
            <a:blip r:embed="rId4"/>
            <a:stretch>
              <a:fillRect l="0" t="0" r="0" b="0"/>
            </a:stretch>
          </a:blipFill>
        </p:spPr>
      </p:sp>
      <p:graphicFrame>
        <p:nvGraphicFramePr>
          <p:cNvPr name="Table 5" id="5"/>
          <p:cNvGraphicFramePr>
            <a:graphicFrameLocks noGrp="true"/>
          </p:cNvGraphicFramePr>
          <p:nvPr/>
        </p:nvGraphicFramePr>
        <p:xfrm>
          <a:off x="1028700" y="1028700"/>
          <a:ext cx="17104819" cy="9515475"/>
        </p:xfrm>
        <a:graphic>
          <a:graphicData uri="http://schemas.openxmlformats.org/drawingml/2006/table">
            <a:tbl>
              <a:tblPr/>
              <a:tblGrid>
                <a:gridCol w="4355209"/>
                <a:gridCol w="5502915"/>
                <a:gridCol w="7246695"/>
              </a:tblGrid>
              <a:tr h="1300608">
                <a:tc>
                  <a:txBody>
                    <a:bodyPr anchor="t" rtlCol="false"/>
                    <a:lstStyle/>
                    <a:p>
                      <a:pPr algn="ctr">
                        <a:lnSpc>
                          <a:spcPts val="3079"/>
                        </a:lnSpc>
                        <a:defRPr/>
                      </a:pPr>
                      <a:r>
                        <a:rPr lang="en-US" sz="2199" b="true">
                          <a:solidFill>
                            <a:srgbClr val="000000"/>
                          </a:solidFill>
                          <a:latin typeface="Inter Bold"/>
                          <a:ea typeface="Inter Bold"/>
                          <a:cs typeface="Inter Bold"/>
                          <a:sym typeface="Inter Bold"/>
                        </a:rPr>
                        <a:t>Etapa / Sprint</a:t>
                      </a:r>
                      <a:endParaRPr lang="en-US" sz="1100"/>
                    </a:p>
                    <a:p>
                      <a:pPr algn="ctr">
                        <a:lnSpc>
                          <a:spcPts val="307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2C6AF"/>
                    </a:solidFill>
                  </a:tcPr>
                </a:tc>
                <a:tc>
                  <a:txBody>
                    <a:bodyPr anchor="t" rtlCol="false"/>
                    <a:lstStyle/>
                    <a:p>
                      <a:pPr algn="ctr">
                        <a:lnSpc>
                          <a:spcPts val="2659"/>
                        </a:lnSpc>
                        <a:defRPr/>
                      </a:pPr>
                      <a:r>
                        <a:rPr lang="en-US" sz="1899" b="true">
                          <a:solidFill>
                            <a:srgbClr val="000000"/>
                          </a:solidFill>
                          <a:latin typeface="Inter Bold"/>
                          <a:ea typeface="Inter Bold"/>
                          <a:cs typeface="Inter Bold"/>
                          <a:sym typeface="Inter Bold"/>
                        </a:rPr>
                        <a:t>Duración</a:t>
                      </a:r>
                      <a:endParaRPr lang="en-US" sz="1100"/>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2C6AF"/>
                    </a:solidFill>
                  </a:tcPr>
                </a:tc>
                <a:tc>
                  <a:txBody>
                    <a:bodyPr anchor="t" rtlCol="false"/>
                    <a:lstStyle/>
                    <a:p>
                      <a:pPr algn="ctr">
                        <a:lnSpc>
                          <a:spcPts val="2659"/>
                        </a:lnSpc>
                        <a:defRPr/>
                      </a:pPr>
                      <a:r>
                        <a:rPr lang="en-US" sz="1899" b="true">
                          <a:solidFill>
                            <a:srgbClr val="000000"/>
                          </a:solidFill>
                          <a:latin typeface="Inter Bold"/>
                          <a:ea typeface="Inter Bold"/>
                          <a:cs typeface="Inter Bold"/>
                          <a:sym typeface="Inter Bold"/>
                        </a:rPr>
                        <a:t>Hito Principal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2C6AF"/>
                    </a:solidFill>
                  </a:tcPr>
                </a:tc>
              </a:tr>
              <a:tr h="1166722">
                <a:tc>
                  <a:txBody>
                    <a:bodyPr anchor="t" rtlCol="false"/>
                    <a:lstStyle/>
                    <a:p>
                      <a:pPr algn="ctr">
                        <a:lnSpc>
                          <a:spcPts val="2659"/>
                        </a:lnSpc>
                        <a:defRPr/>
                      </a:pPr>
                      <a:r>
                        <a:rPr lang="en-US" sz="1899">
                          <a:solidFill>
                            <a:srgbClr val="000000"/>
                          </a:solidFill>
                          <a:latin typeface="Inter"/>
                          <a:ea typeface="Inter"/>
                          <a:cs typeface="Inter"/>
                          <a:sym typeface="Inter"/>
                        </a:rPr>
                        <a:t>Sprint 1: Pre-desarrollo</a:t>
                      </a:r>
                      <a:endParaRPr lang="en-US" sz="1100"/>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2 Semanas (16 al 30 de agosto)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Definición de Arquitectura (Modelo 4+1)</a:t>
                      </a:r>
                      <a:endParaRPr lang="en-US" sz="1100"/>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01437">
                <a:tc>
                  <a:txBody>
                    <a:bodyPr anchor="t" rtlCol="false"/>
                    <a:lstStyle/>
                    <a:p>
                      <a:pPr algn="ctr">
                        <a:lnSpc>
                          <a:spcPts val="2659"/>
                        </a:lnSpc>
                        <a:defRPr/>
                      </a:pPr>
                      <a:r>
                        <a:rPr lang="en-US" sz="1899">
                          <a:solidFill>
                            <a:srgbClr val="000000"/>
                          </a:solidFill>
                          <a:latin typeface="Inter"/>
                          <a:ea typeface="Inter"/>
                          <a:cs typeface="Inter"/>
                          <a:sym typeface="Inter"/>
                        </a:rPr>
                        <a:t>Sprint 2: Base Tecnológica</a:t>
                      </a:r>
                      <a:endParaRPr lang="en-US" sz="1100"/>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2 Semanas (31 de agosto al 14 de septiembre)</a:t>
                      </a:r>
                      <a:endParaRPr lang="en-US" sz="1100"/>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Auth Service Operativo / Conexión a PostgreSQL</a:t>
                      </a:r>
                      <a:endParaRPr lang="en-US" sz="1100"/>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272">
                <a:tc>
                  <a:txBody>
                    <a:bodyPr anchor="t" rtlCol="false"/>
                    <a:lstStyle/>
                    <a:p>
                      <a:pPr algn="ctr">
                        <a:lnSpc>
                          <a:spcPts val="2659"/>
                        </a:lnSpc>
                        <a:defRPr/>
                      </a:pPr>
                      <a:r>
                        <a:rPr lang="en-US" sz="1899">
                          <a:solidFill>
                            <a:srgbClr val="000000"/>
                          </a:solidFill>
                          <a:latin typeface="Inter"/>
                          <a:ea typeface="Inter"/>
                          <a:cs typeface="Inter"/>
                          <a:sym typeface="Inter"/>
                        </a:rPr>
                        <a:t>Sprint 3: Integración con IA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2 Semanas (15 al 29 de septiembre)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IA Service Operativo y Mecanismo de Fallback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66722">
                <a:tc>
                  <a:txBody>
                    <a:bodyPr anchor="t" rtlCol="false"/>
                    <a:lstStyle/>
                    <a:p>
                      <a:pPr algn="ctr">
                        <a:lnSpc>
                          <a:spcPts val="2659"/>
                        </a:lnSpc>
                        <a:defRPr/>
                      </a:pPr>
                      <a:r>
                        <a:rPr lang="en-US" sz="1899">
                          <a:solidFill>
                            <a:srgbClr val="000000"/>
                          </a:solidFill>
                          <a:latin typeface="Inter"/>
                          <a:ea typeface="Inter"/>
                          <a:cs typeface="Inter"/>
                          <a:sym typeface="Inter"/>
                        </a:rPr>
                        <a:t>Sprint 4: Lógica de Gamificación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2 Semanas (30 de septiembre al 13 de octubre)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Contenerización y Despliegue de Staging</a:t>
                      </a:r>
                      <a:endParaRPr lang="en-US" sz="1100"/>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3272">
                <a:tc>
                  <a:txBody>
                    <a:bodyPr anchor="t" rtlCol="false"/>
                    <a:lstStyle/>
                    <a:p>
                      <a:pPr algn="ctr">
                        <a:lnSpc>
                          <a:spcPts val="2659"/>
                        </a:lnSpc>
                        <a:defRPr/>
                      </a:pPr>
                      <a:r>
                        <a:rPr lang="en-US" sz="1899">
                          <a:solidFill>
                            <a:srgbClr val="000000"/>
                          </a:solidFill>
                          <a:latin typeface="Inter"/>
                          <a:ea typeface="Inter"/>
                          <a:cs typeface="Inter"/>
                          <a:sym typeface="Inter"/>
                        </a:rPr>
                        <a:t>Sprint 5: Conexión Frontend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2 Semanas (14 al 27 de octubre)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Flujo Crítico Login --&gt; Carga Contenido Funcional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66722">
                <a:tc>
                  <a:txBody>
                    <a:bodyPr anchor="t" rtlCol="false"/>
                    <a:lstStyle/>
                    <a:p>
                      <a:pPr algn="ctr">
                        <a:lnSpc>
                          <a:spcPts val="2659"/>
                        </a:lnSpc>
                        <a:defRPr/>
                      </a:pPr>
                      <a:r>
                        <a:rPr lang="en-US" sz="1899">
                          <a:solidFill>
                            <a:srgbClr val="000000"/>
                          </a:solidFill>
                          <a:latin typeface="Inter"/>
                          <a:ea typeface="Inter"/>
                          <a:cs typeface="Inter"/>
                          <a:sym typeface="Inter"/>
                        </a:rPr>
                        <a:t>Sprint 6: Lógica de Juego y Scoring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2 Semanas (28 de octubre al 10 de noviembre)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Flujo de Juego Completo / Scoring Asíncrono Funcional</a:t>
                      </a:r>
                      <a:endParaRPr lang="en-US" sz="1100"/>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66722">
                <a:tc>
                  <a:txBody>
                    <a:bodyPr anchor="t" rtlCol="false"/>
                    <a:lstStyle/>
                    <a:p>
                      <a:pPr algn="ctr">
                        <a:lnSpc>
                          <a:spcPts val="2659"/>
                        </a:lnSpc>
                        <a:defRPr/>
                      </a:pPr>
                      <a:r>
                        <a:rPr lang="en-US" sz="1899">
                          <a:solidFill>
                            <a:srgbClr val="000000"/>
                          </a:solidFill>
                          <a:latin typeface="Inter"/>
                          <a:ea typeface="Inter"/>
                          <a:cs typeface="Inter"/>
                          <a:sym typeface="Inter"/>
                        </a:rPr>
                        <a:t>Sprint 7: Despliegue, Cierre y Entrega Final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2 Semanas (11 al 22 de noviembre)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Inter"/>
                          <a:ea typeface="Inter"/>
                          <a:cs typeface="Inter"/>
                          <a:sym typeface="Inter"/>
                        </a:rPr>
                        <a:t>UAT/ Despliegue / Corrección de Bugs / Informe Final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48788" y="6541041"/>
            <a:ext cx="10039212" cy="5910586"/>
          </a:xfrm>
          <a:custGeom>
            <a:avLst/>
            <a:gdLst/>
            <a:ahLst/>
            <a:cxnLst/>
            <a:rect r="r" b="b" t="t" l="l"/>
            <a:pathLst>
              <a:path h="5910586" w="10039212">
                <a:moveTo>
                  <a:pt x="0" y="0"/>
                </a:moveTo>
                <a:lnTo>
                  <a:pt x="10039212" y="0"/>
                </a:lnTo>
                <a:lnTo>
                  <a:pt x="10039212" y="5910586"/>
                </a:lnTo>
                <a:lnTo>
                  <a:pt x="0" y="5910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48879" y="702973"/>
            <a:ext cx="1728003" cy="1315254"/>
          </a:xfrm>
          <a:custGeom>
            <a:avLst/>
            <a:gdLst/>
            <a:ahLst/>
            <a:cxnLst/>
            <a:rect r="r" b="b" t="t" l="l"/>
            <a:pathLst>
              <a:path h="1315254" w="1728003">
                <a:moveTo>
                  <a:pt x="0" y="0"/>
                </a:moveTo>
                <a:lnTo>
                  <a:pt x="1728004" y="0"/>
                </a:lnTo>
                <a:lnTo>
                  <a:pt x="1728004" y="1315254"/>
                </a:lnTo>
                <a:lnTo>
                  <a:pt x="0" y="1315254"/>
                </a:lnTo>
                <a:lnTo>
                  <a:pt x="0" y="0"/>
                </a:lnTo>
                <a:close/>
              </a:path>
            </a:pathLst>
          </a:custGeom>
          <a:blipFill>
            <a:blip r:embed="rId4"/>
            <a:stretch>
              <a:fillRect l="0" t="0" r="0" b="0"/>
            </a:stretch>
          </a:blipFill>
        </p:spPr>
      </p:sp>
      <p:sp>
        <p:nvSpPr>
          <p:cNvPr name="Freeform 4" id="4"/>
          <p:cNvSpPr/>
          <p:nvPr/>
        </p:nvSpPr>
        <p:spPr>
          <a:xfrm flipH="false" flipV="false" rot="0">
            <a:off x="2712522" y="2546364"/>
            <a:ext cx="13248407" cy="7248050"/>
          </a:xfrm>
          <a:custGeom>
            <a:avLst/>
            <a:gdLst/>
            <a:ahLst/>
            <a:cxnLst/>
            <a:rect r="r" b="b" t="t" l="l"/>
            <a:pathLst>
              <a:path h="7248050" w="13248407">
                <a:moveTo>
                  <a:pt x="0" y="0"/>
                </a:moveTo>
                <a:lnTo>
                  <a:pt x="13248407" y="0"/>
                </a:lnTo>
                <a:lnTo>
                  <a:pt x="13248407" y="7248050"/>
                </a:lnTo>
                <a:lnTo>
                  <a:pt x="0" y="7248050"/>
                </a:lnTo>
                <a:lnTo>
                  <a:pt x="0" y="0"/>
                </a:lnTo>
                <a:close/>
              </a:path>
            </a:pathLst>
          </a:custGeom>
          <a:blipFill>
            <a:blip r:embed="rId5"/>
            <a:stretch>
              <a:fillRect l="0" t="0" r="0" b="0"/>
            </a:stretch>
          </a:blipFill>
          <a:ln w="38100" cap="sq">
            <a:solidFill>
              <a:srgbClr val="000000"/>
            </a:solidFill>
            <a:prstDash val="solid"/>
            <a:miter/>
          </a:ln>
        </p:spPr>
      </p:sp>
      <p:sp>
        <p:nvSpPr>
          <p:cNvPr name="TextBox 5" id="5"/>
          <p:cNvSpPr txBox="true"/>
          <p:nvPr/>
        </p:nvSpPr>
        <p:spPr>
          <a:xfrm rot="0">
            <a:off x="1014593" y="1076325"/>
            <a:ext cx="16258815" cy="1244599"/>
          </a:xfrm>
          <a:prstGeom prst="rect">
            <a:avLst/>
          </a:prstGeom>
        </p:spPr>
        <p:txBody>
          <a:bodyPr anchor="t" rtlCol="false" tIns="0" lIns="0" bIns="0" rIns="0">
            <a:spAutoFit/>
          </a:bodyPr>
          <a:lstStyle/>
          <a:p>
            <a:pPr algn="ctr" marL="0" indent="0" lvl="0">
              <a:lnSpc>
                <a:spcPts val="9774"/>
              </a:lnSpc>
            </a:pPr>
            <a:r>
              <a:rPr lang="en-US" b="true" sz="8499">
                <a:solidFill>
                  <a:srgbClr val="433878"/>
                </a:solidFill>
                <a:latin typeface="Montserrat Ultra-Bold"/>
                <a:ea typeface="Montserrat Ultra-Bold"/>
                <a:cs typeface="Montserrat Ultra-Bold"/>
                <a:sym typeface="Montserrat Ultra-Bold"/>
              </a:rPr>
              <a:t>ARQUITECTURA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48788" y="6541041"/>
            <a:ext cx="10039212" cy="5910586"/>
          </a:xfrm>
          <a:custGeom>
            <a:avLst/>
            <a:gdLst/>
            <a:ahLst/>
            <a:cxnLst/>
            <a:rect r="r" b="b" t="t" l="l"/>
            <a:pathLst>
              <a:path h="5910586" w="10039212">
                <a:moveTo>
                  <a:pt x="0" y="0"/>
                </a:moveTo>
                <a:lnTo>
                  <a:pt x="10039212" y="0"/>
                </a:lnTo>
                <a:lnTo>
                  <a:pt x="10039212" y="5910586"/>
                </a:lnTo>
                <a:lnTo>
                  <a:pt x="0" y="5910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99663" y="528910"/>
            <a:ext cx="1871575" cy="1424532"/>
          </a:xfrm>
          <a:custGeom>
            <a:avLst/>
            <a:gdLst/>
            <a:ahLst/>
            <a:cxnLst/>
            <a:rect r="r" b="b" t="t" l="l"/>
            <a:pathLst>
              <a:path h="1424532" w="1871575">
                <a:moveTo>
                  <a:pt x="0" y="0"/>
                </a:moveTo>
                <a:lnTo>
                  <a:pt x="1871575" y="0"/>
                </a:lnTo>
                <a:lnTo>
                  <a:pt x="1871575" y="1424532"/>
                </a:lnTo>
                <a:lnTo>
                  <a:pt x="0" y="1424532"/>
                </a:lnTo>
                <a:lnTo>
                  <a:pt x="0" y="0"/>
                </a:lnTo>
                <a:close/>
              </a:path>
            </a:pathLst>
          </a:custGeom>
          <a:blipFill>
            <a:blip r:embed="rId4"/>
            <a:stretch>
              <a:fillRect l="0" t="0" r="0" b="0"/>
            </a:stretch>
          </a:blipFill>
        </p:spPr>
      </p:sp>
      <p:sp>
        <p:nvSpPr>
          <p:cNvPr name="Freeform 4" id="4"/>
          <p:cNvSpPr/>
          <p:nvPr/>
        </p:nvSpPr>
        <p:spPr>
          <a:xfrm flipH="false" flipV="false" rot="0">
            <a:off x="4827035" y="2506753"/>
            <a:ext cx="7907944" cy="7346312"/>
          </a:xfrm>
          <a:custGeom>
            <a:avLst/>
            <a:gdLst/>
            <a:ahLst/>
            <a:cxnLst/>
            <a:rect r="r" b="b" t="t" l="l"/>
            <a:pathLst>
              <a:path h="7346312" w="7907944">
                <a:moveTo>
                  <a:pt x="0" y="0"/>
                </a:moveTo>
                <a:lnTo>
                  <a:pt x="7907944" y="0"/>
                </a:lnTo>
                <a:lnTo>
                  <a:pt x="7907944" y="7346312"/>
                </a:lnTo>
                <a:lnTo>
                  <a:pt x="0" y="7346312"/>
                </a:lnTo>
                <a:lnTo>
                  <a:pt x="0" y="0"/>
                </a:lnTo>
                <a:close/>
              </a:path>
            </a:pathLst>
          </a:custGeom>
          <a:blipFill>
            <a:blip r:embed="rId5"/>
            <a:stretch>
              <a:fillRect l="0" t="-4498" r="0" b="-4498"/>
            </a:stretch>
          </a:blipFill>
        </p:spPr>
      </p:sp>
      <p:sp>
        <p:nvSpPr>
          <p:cNvPr name="TextBox 5" id="5"/>
          <p:cNvSpPr txBox="true"/>
          <p:nvPr/>
        </p:nvSpPr>
        <p:spPr>
          <a:xfrm rot="0">
            <a:off x="1014593" y="1076325"/>
            <a:ext cx="16258815" cy="1244599"/>
          </a:xfrm>
          <a:prstGeom prst="rect">
            <a:avLst/>
          </a:prstGeom>
        </p:spPr>
        <p:txBody>
          <a:bodyPr anchor="t" rtlCol="false" tIns="0" lIns="0" bIns="0" rIns="0">
            <a:spAutoFit/>
          </a:bodyPr>
          <a:lstStyle/>
          <a:p>
            <a:pPr algn="ctr" marL="0" indent="0" lvl="0">
              <a:lnSpc>
                <a:spcPts val="9774"/>
              </a:lnSpc>
            </a:pPr>
            <a:r>
              <a:rPr lang="en-US" b="true" sz="8499">
                <a:solidFill>
                  <a:srgbClr val="433878"/>
                </a:solidFill>
                <a:latin typeface="Montserrat Ultra-Bold"/>
                <a:ea typeface="Montserrat Ultra-Bold"/>
                <a:cs typeface="Montserrat Ultra-Bold"/>
                <a:sym typeface="Montserrat Ultra-Bold"/>
              </a:rPr>
              <a:t>MODELO DE DATOS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543201" y="1093550"/>
            <a:ext cx="5309419" cy="4114800"/>
          </a:xfrm>
          <a:custGeom>
            <a:avLst/>
            <a:gdLst/>
            <a:ahLst/>
            <a:cxnLst/>
            <a:rect r="r" b="b" t="t" l="l"/>
            <a:pathLst>
              <a:path h="4114800" w="5309419">
                <a:moveTo>
                  <a:pt x="0" y="0"/>
                </a:moveTo>
                <a:lnTo>
                  <a:pt x="5309419" y="0"/>
                </a:lnTo>
                <a:lnTo>
                  <a:pt x="530941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05536" y="5886919"/>
            <a:ext cx="10039212" cy="5910586"/>
          </a:xfrm>
          <a:custGeom>
            <a:avLst/>
            <a:gdLst/>
            <a:ahLst/>
            <a:cxnLst/>
            <a:rect r="r" b="b" t="t" l="l"/>
            <a:pathLst>
              <a:path h="5910586" w="10039212">
                <a:moveTo>
                  <a:pt x="0" y="0"/>
                </a:moveTo>
                <a:lnTo>
                  <a:pt x="10039212" y="0"/>
                </a:lnTo>
                <a:lnTo>
                  <a:pt x="10039212" y="5910586"/>
                </a:lnTo>
                <a:lnTo>
                  <a:pt x="0" y="59105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827270" y="0"/>
            <a:ext cx="0" cy="3375575"/>
          </a:xfrm>
          <a:prstGeom prst="line">
            <a:avLst/>
          </a:prstGeom>
          <a:ln cap="flat" w="57150">
            <a:solidFill>
              <a:srgbClr val="A594F9"/>
            </a:solidFill>
            <a:prstDash val="solid"/>
            <a:headEnd type="none" len="sm" w="sm"/>
            <a:tailEnd type="none" len="sm" w="sm"/>
          </a:ln>
        </p:spPr>
      </p:sp>
      <p:sp>
        <p:nvSpPr>
          <p:cNvPr name="AutoShape 5" id="5"/>
          <p:cNvSpPr/>
          <p:nvPr/>
        </p:nvSpPr>
        <p:spPr>
          <a:xfrm flipH="true">
            <a:off x="8417236" y="544096"/>
            <a:ext cx="0" cy="9198808"/>
          </a:xfrm>
          <a:prstGeom prst="line">
            <a:avLst/>
          </a:prstGeom>
          <a:ln cap="flat" w="57150">
            <a:solidFill>
              <a:srgbClr val="A594F9"/>
            </a:solidFill>
            <a:prstDash val="solid"/>
            <a:headEnd type="none" len="sm" w="sm"/>
            <a:tailEnd type="none" len="sm" w="sm"/>
          </a:ln>
        </p:spPr>
      </p:sp>
      <p:sp>
        <p:nvSpPr>
          <p:cNvPr name="Freeform 6" id="6"/>
          <p:cNvSpPr/>
          <p:nvPr/>
        </p:nvSpPr>
        <p:spPr>
          <a:xfrm flipH="false" flipV="false" rot="0">
            <a:off x="1028700" y="835685"/>
            <a:ext cx="516190" cy="516190"/>
          </a:xfrm>
          <a:custGeom>
            <a:avLst/>
            <a:gdLst/>
            <a:ahLst/>
            <a:cxnLst/>
            <a:rect r="r" b="b" t="t" l="l"/>
            <a:pathLst>
              <a:path h="516190" w="516190">
                <a:moveTo>
                  <a:pt x="0" y="0"/>
                </a:moveTo>
                <a:lnTo>
                  <a:pt x="516190" y="0"/>
                </a:lnTo>
                <a:lnTo>
                  <a:pt x="516190" y="516190"/>
                </a:lnTo>
                <a:lnTo>
                  <a:pt x="0" y="5161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400000">
            <a:off x="8338778" y="643641"/>
            <a:ext cx="488566" cy="289475"/>
          </a:xfrm>
          <a:custGeom>
            <a:avLst/>
            <a:gdLst/>
            <a:ahLst/>
            <a:cxnLst/>
            <a:rect r="r" b="b" t="t" l="l"/>
            <a:pathLst>
              <a:path h="289475" w="488566">
                <a:moveTo>
                  <a:pt x="0" y="0"/>
                </a:moveTo>
                <a:lnTo>
                  <a:pt x="488566" y="0"/>
                </a:lnTo>
                <a:lnTo>
                  <a:pt x="488566" y="289475"/>
                </a:lnTo>
                <a:lnTo>
                  <a:pt x="0" y="2894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8617261" y="2613167"/>
            <a:ext cx="6461216" cy="505684"/>
          </a:xfrm>
          <a:prstGeom prst="rect">
            <a:avLst/>
          </a:prstGeom>
        </p:spPr>
        <p:txBody>
          <a:bodyPr anchor="t" rtlCol="false" tIns="0" lIns="0" bIns="0" rIns="0">
            <a:spAutoFit/>
          </a:bodyPr>
          <a:lstStyle/>
          <a:p>
            <a:pPr algn="l" marL="643681" indent="-321841" lvl="1">
              <a:lnSpc>
                <a:spcPts val="4173"/>
              </a:lnSpc>
              <a:buFont typeface="Arial"/>
              <a:buChar char="•"/>
            </a:pPr>
            <a:r>
              <a:rPr lang="en-US" b="true" sz="2981" spc="298">
                <a:solidFill>
                  <a:srgbClr val="433878"/>
                </a:solidFill>
                <a:latin typeface="Montserrat Bold"/>
                <a:ea typeface="Montserrat Bold"/>
                <a:cs typeface="Montserrat Bold"/>
                <a:sym typeface="Montserrat Bold"/>
              </a:rPr>
              <a:t>JAVA (SPRING BOOT)</a:t>
            </a:r>
          </a:p>
        </p:txBody>
      </p:sp>
      <p:sp>
        <p:nvSpPr>
          <p:cNvPr name="TextBox 9" id="9"/>
          <p:cNvSpPr txBox="true"/>
          <p:nvPr/>
        </p:nvSpPr>
        <p:spPr>
          <a:xfrm rot="0">
            <a:off x="8617261" y="3523578"/>
            <a:ext cx="6461216" cy="505684"/>
          </a:xfrm>
          <a:prstGeom prst="rect">
            <a:avLst/>
          </a:prstGeom>
        </p:spPr>
        <p:txBody>
          <a:bodyPr anchor="t" rtlCol="false" tIns="0" lIns="0" bIns="0" rIns="0">
            <a:spAutoFit/>
          </a:bodyPr>
          <a:lstStyle/>
          <a:p>
            <a:pPr algn="l" marL="643681" indent="-321841" lvl="1">
              <a:lnSpc>
                <a:spcPts val="4173"/>
              </a:lnSpc>
              <a:buFont typeface="Arial"/>
              <a:buChar char="•"/>
            </a:pPr>
            <a:r>
              <a:rPr lang="en-US" b="true" sz="2981" spc="298">
                <a:solidFill>
                  <a:srgbClr val="433878"/>
                </a:solidFill>
                <a:latin typeface="Montserrat Bold"/>
                <a:ea typeface="Montserrat Bold"/>
                <a:cs typeface="Montserrat Bold"/>
                <a:sym typeface="Montserrat Bold"/>
              </a:rPr>
              <a:t>KOTLIN</a:t>
            </a:r>
          </a:p>
        </p:txBody>
      </p:sp>
      <p:sp>
        <p:nvSpPr>
          <p:cNvPr name="TextBox 10" id="10"/>
          <p:cNvSpPr txBox="true"/>
          <p:nvPr/>
        </p:nvSpPr>
        <p:spPr>
          <a:xfrm rot="0">
            <a:off x="8617261" y="4433989"/>
            <a:ext cx="6461216" cy="505684"/>
          </a:xfrm>
          <a:prstGeom prst="rect">
            <a:avLst/>
          </a:prstGeom>
        </p:spPr>
        <p:txBody>
          <a:bodyPr anchor="t" rtlCol="false" tIns="0" lIns="0" bIns="0" rIns="0">
            <a:spAutoFit/>
          </a:bodyPr>
          <a:lstStyle/>
          <a:p>
            <a:pPr algn="l" marL="643681" indent="-321841" lvl="1">
              <a:lnSpc>
                <a:spcPts val="4173"/>
              </a:lnSpc>
              <a:buFont typeface="Arial"/>
              <a:buChar char="•"/>
            </a:pPr>
            <a:r>
              <a:rPr lang="en-US" b="true" sz="2981" spc="298">
                <a:solidFill>
                  <a:srgbClr val="433878"/>
                </a:solidFill>
                <a:latin typeface="Montserrat Bold"/>
                <a:ea typeface="Montserrat Bold"/>
                <a:cs typeface="Montserrat Bold"/>
                <a:sym typeface="Montserrat Bold"/>
              </a:rPr>
              <a:t>GOOGLE GEMINI API</a:t>
            </a:r>
          </a:p>
        </p:txBody>
      </p:sp>
      <p:sp>
        <p:nvSpPr>
          <p:cNvPr name="TextBox 11" id="11"/>
          <p:cNvSpPr txBox="true"/>
          <p:nvPr/>
        </p:nvSpPr>
        <p:spPr>
          <a:xfrm rot="0">
            <a:off x="8617261" y="5344401"/>
            <a:ext cx="6461216" cy="505684"/>
          </a:xfrm>
          <a:prstGeom prst="rect">
            <a:avLst/>
          </a:prstGeom>
        </p:spPr>
        <p:txBody>
          <a:bodyPr anchor="t" rtlCol="false" tIns="0" lIns="0" bIns="0" rIns="0">
            <a:spAutoFit/>
          </a:bodyPr>
          <a:lstStyle/>
          <a:p>
            <a:pPr algn="l" marL="643681" indent="-321841" lvl="1">
              <a:lnSpc>
                <a:spcPts val="4173"/>
              </a:lnSpc>
              <a:buFont typeface="Arial"/>
              <a:buChar char="•"/>
            </a:pPr>
            <a:r>
              <a:rPr lang="en-US" b="true" sz="2981" spc="298">
                <a:solidFill>
                  <a:srgbClr val="433878"/>
                </a:solidFill>
                <a:latin typeface="Montserrat Bold"/>
                <a:ea typeface="Montserrat Bold"/>
                <a:cs typeface="Montserrat Bold"/>
                <a:sym typeface="Montserrat Bold"/>
              </a:rPr>
              <a:t>POSTGRESQL</a:t>
            </a:r>
          </a:p>
        </p:txBody>
      </p:sp>
      <p:sp>
        <p:nvSpPr>
          <p:cNvPr name="TextBox 12" id="12"/>
          <p:cNvSpPr txBox="true"/>
          <p:nvPr/>
        </p:nvSpPr>
        <p:spPr>
          <a:xfrm rot="0">
            <a:off x="8617261" y="6254812"/>
            <a:ext cx="8642039" cy="505684"/>
          </a:xfrm>
          <a:prstGeom prst="rect">
            <a:avLst/>
          </a:prstGeom>
        </p:spPr>
        <p:txBody>
          <a:bodyPr anchor="t" rtlCol="false" tIns="0" lIns="0" bIns="0" rIns="0">
            <a:spAutoFit/>
          </a:bodyPr>
          <a:lstStyle/>
          <a:p>
            <a:pPr algn="l" marL="643681" indent="-321841" lvl="1">
              <a:lnSpc>
                <a:spcPts val="4173"/>
              </a:lnSpc>
              <a:buFont typeface="Arial"/>
              <a:buChar char="•"/>
            </a:pPr>
            <a:r>
              <a:rPr lang="en-US" b="true" sz="2981" spc="298">
                <a:solidFill>
                  <a:srgbClr val="433878"/>
                </a:solidFill>
                <a:latin typeface="Montserrat Bold"/>
                <a:ea typeface="Montserrat Bold"/>
                <a:cs typeface="Montserrat Bold"/>
                <a:sym typeface="Montserrat Bold"/>
              </a:rPr>
              <a:t>GOOGLE CLOUD PLATFORM (GCP)</a:t>
            </a:r>
          </a:p>
        </p:txBody>
      </p:sp>
      <p:sp>
        <p:nvSpPr>
          <p:cNvPr name="TextBox 13" id="13"/>
          <p:cNvSpPr txBox="true"/>
          <p:nvPr/>
        </p:nvSpPr>
        <p:spPr>
          <a:xfrm rot="0">
            <a:off x="1028700" y="1476851"/>
            <a:ext cx="4805089" cy="1392555"/>
          </a:xfrm>
          <a:prstGeom prst="rect">
            <a:avLst/>
          </a:prstGeom>
        </p:spPr>
        <p:txBody>
          <a:bodyPr anchor="t" rtlCol="false" tIns="0" lIns="0" bIns="0" rIns="0">
            <a:spAutoFit/>
          </a:bodyPr>
          <a:lstStyle/>
          <a:p>
            <a:pPr algn="l" marL="0" indent="0" lvl="0">
              <a:lnSpc>
                <a:spcPts val="5520"/>
              </a:lnSpc>
            </a:pPr>
            <a:r>
              <a:rPr lang="en-US" b="true" sz="4800">
                <a:solidFill>
                  <a:srgbClr val="433878"/>
                </a:solidFill>
                <a:latin typeface="Montserrat Ultra-Bold"/>
                <a:ea typeface="Montserrat Ultra-Bold"/>
                <a:cs typeface="Montserrat Ultra-Bold"/>
                <a:sym typeface="Montserrat Ultra-Bold"/>
              </a:rPr>
              <a:t>TECNOLOGIAS UTILIZADAS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827270" y="0"/>
            <a:ext cx="0" cy="3978749"/>
          </a:xfrm>
          <a:prstGeom prst="line">
            <a:avLst/>
          </a:prstGeom>
          <a:ln cap="flat" w="57150">
            <a:solidFill>
              <a:srgbClr val="A594F9"/>
            </a:solidFill>
            <a:prstDash val="solid"/>
            <a:headEnd type="none" len="sm" w="sm"/>
            <a:tailEnd type="none" len="sm" w="sm"/>
          </a:ln>
        </p:spPr>
      </p:sp>
      <p:sp>
        <p:nvSpPr>
          <p:cNvPr name="Freeform 3" id="3"/>
          <p:cNvSpPr/>
          <p:nvPr/>
        </p:nvSpPr>
        <p:spPr>
          <a:xfrm flipH="false" flipV="false" rot="0">
            <a:off x="-724541" y="4376414"/>
            <a:ext cx="10039212" cy="5910586"/>
          </a:xfrm>
          <a:custGeom>
            <a:avLst/>
            <a:gdLst/>
            <a:ahLst/>
            <a:cxnLst/>
            <a:rect r="r" b="b" t="t" l="l"/>
            <a:pathLst>
              <a:path h="5910586" w="10039212">
                <a:moveTo>
                  <a:pt x="0" y="0"/>
                </a:moveTo>
                <a:lnTo>
                  <a:pt x="10039212" y="0"/>
                </a:lnTo>
                <a:lnTo>
                  <a:pt x="10039212" y="5910586"/>
                </a:lnTo>
                <a:lnTo>
                  <a:pt x="0" y="5910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5400000">
            <a:off x="12801600" y="1481192"/>
            <a:ext cx="7315200" cy="3657600"/>
          </a:xfrm>
          <a:custGeom>
            <a:avLst/>
            <a:gdLst/>
            <a:ahLst/>
            <a:cxnLst/>
            <a:rect r="r" b="b" t="t" l="l"/>
            <a:pathLst>
              <a:path h="3657600" w="7315200">
                <a:moveTo>
                  <a:pt x="7315200" y="3657600"/>
                </a:moveTo>
                <a:lnTo>
                  <a:pt x="0" y="3657600"/>
                </a:lnTo>
                <a:lnTo>
                  <a:pt x="0" y="0"/>
                </a:lnTo>
                <a:lnTo>
                  <a:pt x="7315200" y="0"/>
                </a:lnTo>
                <a:lnTo>
                  <a:pt x="7315200" y="365760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a:grpSpLocks noChangeAspect="true"/>
          </p:cNvGrpSpPr>
          <p:nvPr/>
        </p:nvGrpSpPr>
        <p:grpSpPr>
          <a:xfrm rot="0">
            <a:off x="5487850" y="1232077"/>
            <a:ext cx="12800150" cy="7342011"/>
            <a:chOff x="0" y="0"/>
            <a:chExt cx="7981950" cy="4578350"/>
          </a:xfrm>
        </p:grpSpPr>
        <p:sp>
          <p:nvSpPr>
            <p:cNvPr name="Freeform 6" id="6"/>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name="Freeform 7" id="7"/>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name="Freeform 8" id="8"/>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name="Freeform 9" id="9"/>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name="Freeform 10" id="10"/>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6"/>
              <a:stretch>
                <a:fillRect l="0" t="-10809" r="0" b="-10809"/>
              </a:stretch>
            </a:blipFill>
          </p:spPr>
        </p:sp>
      </p:grpSp>
      <p:sp>
        <p:nvSpPr>
          <p:cNvPr name="TextBox 11" id="11"/>
          <p:cNvSpPr txBox="true"/>
          <p:nvPr/>
        </p:nvSpPr>
        <p:spPr>
          <a:xfrm rot="0">
            <a:off x="1028700" y="1495901"/>
            <a:ext cx="4737032" cy="1244598"/>
          </a:xfrm>
          <a:prstGeom prst="rect">
            <a:avLst/>
          </a:prstGeom>
        </p:spPr>
        <p:txBody>
          <a:bodyPr anchor="t" rtlCol="false" tIns="0" lIns="0" bIns="0" rIns="0">
            <a:spAutoFit/>
          </a:bodyPr>
          <a:lstStyle/>
          <a:p>
            <a:pPr algn="l" marL="0" indent="0" lvl="0">
              <a:lnSpc>
                <a:spcPts val="9774"/>
              </a:lnSpc>
            </a:pPr>
            <a:r>
              <a:rPr lang="en-US" b="true" sz="8499">
                <a:solidFill>
                  <a:srgbClr val="433878"/>
                </a:solidFill>
                <a:latin typeface="Montserrat Ultra-Bold"/>
                <a:ea typeface="Montserrat Ultra-Bold"/>
                <a:cs typeface="Montserrat Ultra-Bold"/>
                <a:sym typeface="Montserrat Ultra-Bold"/>
              </a:rPr>
              <a:t>DEMO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827270" y="0"/>
            <a:ext cx="0" cy="4610443"/>
          </a:xfrm>
          <a:prstGeom prst="line">
            <a:avLst/>
          </a:prstGeom>
          <a:ln cap="flat" w="57150">
            <a:solidFill>
              <a:srgbClr val="A594F9"/>
            </a:solidFill>
            <a:prstDash val="solid"/>
            <a:headEnd type="none" len="sm" w="sm"/>
            <a:tailEnd type="none" len="sm" w="sm"/>
          </a:ln>
        </p:spPr>
      </p:sp>
      <p:sp>
        <p:nvSpPr>
          <p:cNvPr name="AutoShape 3" id="3"/>
          <p:cNvSpPr/>
          <p:nvPr/>
        </p:nvSpPr>
        <p:spPr>
          <a:xfrm>
            <a:off x="8009423" y="6630125"/>
            <a:ext cx="0" cy="3773476"/>
          </a:xfrm>
          <a:prstGeom prst="line">
            <a:avLst/>
          </a:prstGeom>
          <a:ln cap="flat" w="57150">
            <a:solidFill>
              <a:srgbClr val="A594F9"/>
            </a:solidFill>
            <a:prstDash val="solid"/>
            <a:headEnd type="none" len="sm" w="sm"/>
            <a:tailEnd type="none" len="sm" w="sm"/>
          </a:ln>
        </p:spPr>
      </p:sp>
      <p:sp>
        <p:nvSpPr>
          <p:cNvPr name="Freeform 4" id="4"/>
          <p:cNvSpPr/>
          <p:nvPr/>
        </p:nvSpPr>
        <p:spPr>
          <a:xfrm flipH="false" flipV="false" rot="0">
            <a:off x="1028700" y="1028700"/>
            <a:ext cx="516190" cy="516190"/>
          </a:xfrm>
          <a:custGeom>
            <a:avLst/>
            <a:gdLst/>
            <a:ahLst/>
            <a:cxnLst/>
            <a:rect r="r" b="b" t="t" l="l"/>
            <a:pathLst>
              <a:path h="516190" w="516190">
                <a:moveTo>
                  <a:pt x="0" y="0"/>
                </a:moveTo>
                <a:lnTo>
                  <a:pt x="516190" y="0"/>
                </a:lnTo>
                <a:lnTo>
                  <a:pt x="516190" y="516190"/>
                </a:lnTo>
                <a:lnTo>
                  <a:pt x="0" y="5161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727725" y="4221423"/>
            <a:ext cx="488566" cy="289475"/>
          </a:xfrm>
          <a:custGeom>
            <a:avLst/>
            <a:gdLst/>
            <a:ahLst/>
            <a:cxnLst/>
            <a:rect r="r" b="b" t="t" l="l"/>
            <a:pathLst>
              <a:path h="289475" w="488566">
                <a:moveTo>
                  <a:pt x="0" y="0"/>
                </a:moveTo>
                <a:lnTo>
                  <a:pt x="488566" y="0"/>
                </a:lnTo>
                <a:lnTo>
                  <a:pt x="488566" y="289475"/>
                </a:lnTo>
                <a:lnTo>
                  <a:pt x="0" y="2894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7909878" y="6729671"/>
            <a:ext cx="488566" cy="289475"/>
          </a:xfrm>
          <a:custGeom>
            <a:avLst/>
            <a:gdLst/>
            <a:ahLst/>
            <a:cxnLst/>
            <a:rect r="r" b="b" t="t" l="l"/>
            <a:pathLst>
              <a:path h="289475" w="488566">
                <a:moveTo>
                  <a:pt x="0" y="0"/>
                </a:moveTo>
                <a:lnTo>
                  <a:pt x="488565" y="0"/>
                </a:lnTo>
                <a:lnTo>
                  <a:pt x="488565" y="289475"/>
                </a:lnTo>
                <a:lnTo>
                  <a:pt x="0" y="2894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656172" y="6629400"/>
            <a:ext cx="7315200" cy="3657600"/>
          </a:xfrm>
          <a:custGeom>
            <a:avLst/>
            <a:gdLst/>
            <a:ahLst/>
            <a:cxnLst/>
            <a:rect r="r" b="b" t="t" l="l"/>
            <a:pathLst>
              <a:path h="3657600" w="7315200">
                <a:moveTo>
                  <a:pt x="7315200" y="0"/>
                </a:moveTo>
                <a:lnTo>
                  <a:pt x="0" y="0"/>
                </a:lnTo>
                <a:lnTo>
                  <a:pt x="0" y="3657600"/>
                </a:lnTo>
                <a:lnTo>
                  <a:pt x="7315200" y="365760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7904136" y="0"/>
            <a:ext cx="11159626" cy="6199792"/>
          </a:xfrm>
          <a:custGeom>
            <a:avLst/>
            <a:gdLst/>
            <a:ahLst/>
            <a:cxnLst/>
            <a:rect r="r" b="b" t="t" l="l"/>
            <a:pathLst>
              <a:path h="6199792" w="11159626">
                <a:moveTo>
                  <a:pt x="0" y="0"/>
                </a:moveTo>
                <a:lnTo>
                  <a:pt x="11159626" y="0"/>
                </a:lnTo>
                <a:lnTo>
                  <a:pt x="11159626" y="6199792"/>
                </a:lnTo>
                <a:lnTo>
                  <a:pt x="0" y="6199792"/>
                </a:lnTo>
                <a:lnTo>
                  <a:pt x="0" y="0"/>
                </a:lnTo>
                <a:close/>
              </a:path>
            </a:pathLst>
          </a:custGeom>
          <a:blipFill>
            <a:blip r:embed="rId8"/>
            <a:stretch>
              <a:fillRect l="0" t="0" r="0" b="0"/>
            </a:stretch>
          </a:blipFill>
        </p:spPr>
      </p:sp>
      <p:sp>
        <p:nvSpPr>
          <p:cNvPr name="TextBox 9" id="9"/>
          <p:cNvSpPr txBox="true"/>
          <p:nvPr/>
        </p:nvSpPr>
        <p:spPr>
          <a:xfrm rot="0">
            <a:off x="1028700" y="1849773"/>
            <a:ext cx="6392482" cy="1995805"/>
          </a:xfrm>
          <a:prstGeom prst="rect">
            <a:avLst/>
          </a:prstGeom>
        </p:spPr>
        <p:txBody>
          <a:bodyPr anchor="t" rtlCol="false" tIns="0" lIns="0" bIns="0" rIns="0">
            <a:spAutoFit/>
          </a:bodyPr>
          <a:lstStyle/>
          <a:p>
            <a:pPr algn="l">
              <a:lnSpc>
                <a:spcPts val="7819"/>
              </a:lnSpc>
            </a:pPr>
            <a:r>
              <a:rPr lang="en-US" sz="6799" b="true">
                <a:solidFill>
                  <a:srgbClr val="433878"/>
                </a:solidFill>
                <a:latin typeface="Montserrat Ultra-Bold"/>
                <a:ea typeface="Montserrat Ultra-Bold"/>
                <a:cs typeface="Montserrat Ultra-Bold"/>
                <a:sym typeface="Montserrat Ultra-Bold"/>
              </a:rPr>
              <a:t>RESULTADOS</a:t>
            </a:r>
          </a:p>
          <a:p>
            <a:pPr algn="l" marL="0" indent="0" lvl="0">
              <a:lnSpc>
                <a:spcPts val="7819"/>
              </a:lnSpc>
            </a:pPr>
            <a:r>
              <a:rPr lang="en-US" b="true" sz="6799">
                <a:solidFill>
                  <a:srgbClr val="433878"/>
                </a:solidFill>
                <a:latin typeface="Montserrat Ultra-Bold"/>
                <a:ea typeface="Montserrat Ultra-Bold"/>
                <a:cs typeface="Montserrat Ultra-Bold"/>
                <a:sym typeface="Montserrat Ultra-Bold"/>
              </a:rPr>
              <a:t>OBTENIDOS</a:t>
            </a:r>
          </a:p>
        </p:txBody>
      </p:sp>
      <p:sp>
        <p:nvSpPr>
          <p:cNvPr name="TextBox 10" id="10"/>
          <p:cNvSpPr txBox="true"/>
          <p:nvPr/>
        </p:nvSpPr>
        <p:spPr>
          <a:xfrm rot="0">
            <a:off x="8679898" y="7061541"/>
            <a:ext cx="9608102" cy="2377440"/>
          </a:xfrm>
          <a:prstGeom prst="rect">
            <a:avLst/>
          </a:prstGeom>
        </p:spPr>
        <p:txBody>
          <a:bodyPr anchor="t" rtlCol="false" tIns="0" lIns="0" bIns="0" rIns="0">
            <a:spAutoFit/>
          </a:bodyPr>
          <a:lstStyle/>
          <a:p>
            <a:pPr algn="l">
              <a:lnSpc>
                <a:spcPts val="3150"/>
              </a:lnSpc>
            </a:pPr>
            <a:r>
              <a:rPr lang="en-US" sz="2100" spc="420" b="true">
                <a:solidFill>
                  <a:srgbClr val="433878"/>
                </a:solidFill>
                <a:latin typeface="Open Sans Medium"/>
                <a:ea typeface="Open Sans Medium"/>
                <a:cs typeface="Open Sans Medium"/>
                <a:sym typeface="Open Sans Medium"/>
              </a:rPr>
              <a:t>Desde una perspectiva económica, el proyecto ha demostrado una sólida factibilidad financiera con un Valor Actual Neto  positivo de $68.911.554, confirmando que la inversión genera valor por encima del retorno exigido, validando la rentabilidad y el atractivo comercial de Brain Boost.</a:t>
            </a:r>
          </a:p>
        </p:txBody>
      </p:sp>
      <p:sp>
        <p:nvSpPr>
          <p:cNvPr name="TextBox 11" id="11"/>
          <p:cNvSpPr txBox="true"/>
          <p:nvPr/>
        </p:nvSpPr>
        <p:spPr>
          <a:xfrm rot="0">
            <a:off x="374494" y="5012055"/>
            <a:ext cx="7253868" cy="3977640"/>
          </a:xfrm>
          <a:prstGeom prst="rect">
            <a:avLst/>
          </a:prstGeom>
        </p:spPr>
        <p:txBody>
          <a:bodyPr anchor="t" rtlCol="false" tIns="0" lIns="0" bIns="0" rIns="0">
            <a:spAutoFit/>
          </a:bodyPr>
          <a:lstStyle/>
          <a:p>
            <a:pPr algn="ctr">
              <a:lnSpc>
                <a:spcPts val="3150"/>
              </a:lnSpc>
            </a:pPr>
            <a:r>
              <a:rPr lang="en-US" sz="2100" spc="420">
                <a:solidFill>
                  <a:srgbClr val="433878"/>
                </a:solidFill>
                <a:latin typeface="Open Sans"/>
                <a:ea typeface="Open Sans"/>
                <a:cs typeface="Open Sans"/>
                <a:sym typeface="Open Sans"/>
              </a:rPr>
              <a:t>Se logró la integración del algoritmo adaptativo que personaliza la ruta de aprendizaje en tiempo real, validando el núcleo de la propuesta de valor. Además, la implementación del registro asíncrono de métricas permite mantener una baja latencia en el juego, asegurando una experiencia de usuario fluida y entregando a la institución trazabilidad de desempeño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4451" y="729799"/>
            <a:ext cx="10238451" cy="10238451"/>
          </a:xfrm>
          <a:custGeom>
            <a:avLst/>
            <a:gdLst/>
            <a:ahLst/>
            <a:cxnLst/>
            <a:rect r="r" b="b" t="t" l="l"/>
            <a:pathLst>
              <a:path h="10238451" w="10238451">
                <a:moveTo>
                  <a:pt x="0" y="0"/>
                </a:moveTo>
                <a:lnTo>
                  <a:pt x="10238451" y="0"/>
                </a:lnTo>
                <a:lnTo>
                  <a:pt x="10238451" y="10238450"/>
                </a:lnTo>
                <a:lnTo>
                  <a:pt x="0" y="10238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144000" y="4249251"/>
            <a:ext cx="8918087" cy="777240"/>
          </a:xfrm>
          <a:prstGeom prst="rect">
            <a:avLst/>
          </a:prstGeom>
        </p:spPr>
        <p:txBody>
          <a:bodyPr anchor="t" rtlCol="false" tIns="0" lIns="0" bIns="0" rIns="0">
            <a:spAutoFit/>
          </a:bodyPr>
          <a:lstStyle/>
          <a:p>
            <a:pPr algn="l">
              <a:lnSpc>
                <a:spcPts val="3150"/>
              </a:lnSpc>
            </a:pPr>
            <a:r>
              <a:rPr lang="en-US" sz="2100" spc="420" b="true">
                <a:solidFill>
                  <a:srgbClr val="433878"/>
                </a:solidFill>
                <a:latin typeface="Open Sans Medium"/>
                <a:ea typeface="Open Sans Medium"/>
                <a:cs typeface="Open Sans Medium"/>
                <a:sym typeface="Open Sans Medium"/>
              </a:rPr>
              <a:t>El alto volumen de uso en la plataforma podría exceder las cuotas de la API de Google Gemini</a:t>
            </a:r>
          </a:p>
        </p:txBody>
      </p:sp>
      <p:grpSp>
        <p:nvGrpSpPr>
          <p:cNvPr name="Group 4" id="4"/>
          <p:cNvGrpSpPr/>
          <p:nvPr/>
        </p:nvGrpSpPr>
        <p:grpSpPr>
          <a:xfrm rot="0">
            <a:off x="8937882" y="3307781"/>
            <a:ext cx="10459797" cy="799122"/>
            <a:chOff x="0" y="0"/>
            <a:chExt cx="2754844" cy="210468"/>
          </a:xfrm>
        </p:grpSpPr>
        <p:sp>
          <p:nvSpPr>
            <p:cNvPr name="Freeform 5" id="5"/>
            <p:cNvSpPr/>
            <p:nvPr/>
          </p:nvSpPr>
          <p:spPr>
            <a:xfrm flipH="false" flipV="false" rot="0">
              <a:off x="0" y="0"/>
              <a:ext cx="2754844" cy="210468"/>
            </a:xfrm>
            <a:custGeom>
              <a:avLst/>
              <a:gdLst/>
              <a:ahLst/>
              <a:cxnLst/>
              <a:rect r="r" b="b" t="t" l="l"/>
              <a:pathLst>
                <a:path h="210468" w="2754844">
                  <a:moveTo>
                    <a:pt x="37748" y="0"/>
                  </a:moveTo>
                  <a:lnTo>
                    <a:pt x="2717096" y="0"/>
                  </a:lnTo>
                  <a:cubicBezTo>
                    <a:pt x="2727107" y="0"/>
                    <a:pt x="2736708" y="3977"/>
                    <a:pt x="2743788" y="11056"/>
                  </a:cubicBezTo>
                  <a:cubicBezTo>
                    <a:pt x="2750867" y="18135"/>
                    <a:pt x="2754844" y="27737"/>
                    <a:pt x="2754844" y="37748"/>
                  </a:cubicBezTo>
                  <a:lnTo>
                    <a:pt x="2754844" y="172720"/>
                  </a:lnTo>
                  <a:cubicBezTo>
                    <a:pt x="2754844" y="182732"/>
                    <a:pt x="2750867" y="192333"/>
                    <a:pt x="2743788" y="199412"/>
                  </a:cubicBezTo>
                  <a:cubicBezTo>
                    <a:pt x="2736708" y="206491"/>
                    <a:pt x="2727107" y="210468"/>
                    <a:pt x="2717096" y="210468"/>
                  </a:cubicBezTo>
                  <a:lnTo>
                    <a:pt x="37748" y="210468"/>
                  </a:lnTo>
                  <a:cubicBezTo>
                    <a:pt x="27737" y="210468"/>
                    <a:pt x="18135" y="206491"/>
                    <a:pt x="11056" y="199412"/>
                  </a:cubicBezTo>
                  <a:cubicBezTo>
                    <a:pt x="3977" y="192333"/>
                    <a:pt x="0" y="182732"/>
                    <a:pt x="0" y="172720"/>
                  </a:cubicBezTo>
                  <a:lnTo>
                    <a:pt x="0" y="37748"/>
                  </a:lnTo>
                  <a:cubicBezTo>
                    <a:pt x="0" y="27737"/>
                    <a:pt x="3977" y="18135"/>
                    <a:pt x="11056" y="11056"/>
                  </a:cubicBezTo>
                  <a:cubicBezTo>
                    <a:pt x="18135" y="3977"/>
                    <a:pt x="27737" y="0"/>
                    <a:pt x="37748" y="0"/>
                  </a:cubicBezTo>
                  <a:close/>
                </a:path>
              </a:pathLst>
            </a:custGeom>
            <a:solidFill>
              <a:srgbClr val="E5D9F2"/>
            </a:solidFill>
            <a:ln w="57150" cap="rnd">
              <a:solidFill>
                <a:srgbClr val="433878"/>
              </a:solidFill>
              <a:prstDash val="solid"/>
              <a:round/>
            </a:ln>
          </p:spPr>
        </p:sp>
        <p:sp>
          <p:nvSpPr>
            <p:cNvPr name="TextBox 6" id="6"/>
            <p:cNvSpPr txBox="true"/>
            <p:nvPr/>
          </p:nvSpPr>
          <p:spPr>
            <a:xfrm>
              <a:off x="0" y="-38100"/>
              <a:ext cx="2754844" cy="248568"/>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9135016" y="3472445"/>
            <a:ext cx="469795" cy="46979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594F9"/>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9776261" y="3502228"/>
            <a:ext cx="7822107" cy="438785"/>
          </a:xfrm>
          <a:prstGeom prst="rect">
            <a:avLst/>
          </a:prstGeom>
        </p:spPr>
        <p:txBody>
          <a:bodyPr anchor="t" rtlCol="false" tIns="0" lIns="0" bIns="0" rIns="0">
            <a:spAutoFit/>
          </a:bodyPr>
          <a:lstStyle/>
          <a:p>
            <a:pPr algn="l">
              <a:lnSpc>
                <a:spcPts val="3564"/>
              </a:lnSpc>
              <a:spcBef>
                <a:spcPct val="0"/>
              </a:spcBef>
            </a:pPr>
            <a:r>
              <a:rPr lang="en-US" b="true" sz="3099" spc="309">
                <a:solidFill>
                  <a:srgbClr val="433878"/>
                </a:solidFill>
                <a:latin typeface="Open Sans Ultra-Bold"/>
                <a:ea typeface="Open Sans Ultra-Bold"/>
                <a:cs typeface="Open Sans Ultra-Bold"/>
                <a:sym typeface="Open Sans Ultra-Bold"/>
              </a:rPr>
              <a:t>RIESGO DE CUOTA EXCEDIDA (IA)</a:t>
            </a:r>
          </a:p>
        </p:txBody>
      </p:sp>
      <p:sp>
        <p:nvSpPr>
          <p:cNvPr name="TextBox 11" id="11"/>
          <p:cNvSpPr txBox="true"/>
          <p:nvPr/>
        </p:nvSpPr>
        <p:spPr>
          <a:xfrm rot="0">
            <a:off x="9082619" y="6418281"/>
            <a:ext cx="9205381" cy="1177290"/>
          </a:xfrm>
          <a:prstGeom prst="rect">
            <a:avLst/>
          </a:prstGeom>
        </p:spPr>
        <p:txBody>
          <a:bodyPr anchor="t" rtlCol="false" tIns="0" lIns="0" bIns="0" rIns="0">
            <a:spAutoFit/>
          </a:bodyPr>
          <a:lstStyle/>
          <a:p>
            <a:pPr algn="l">
              <a:lnSpc>
                <a:spcPts val="3150"/>
              </a:lnSpc>
            </a:pPr>
            <a:r>
              <a:rPr lang="en-US" sz="2100" spc="420" b="true">
                <a:solidFill>
                  <a:srgbClr val="433878"/>
                </a:solidFill>
                <a:latin typeface="Open Sans Medium"/>
                <a:ea typeface="Open Sans Medium"/>
                <a:cs typeface="Open Sans Medium"/>
                <a:sym typeface="Open Sans Medium"/>
              </a:rPr>
              <a:t>Migrar de servicios gratuitos a pagados en GCP y las APIs de IA aumenta drásticamente los costos operacionales iniciales</a:t>
            </a:r>
          </a:p>
        </p:txBody>
      </p:sp>
      <p:grpSp>
        <p:nvGrpSpPr>
          <p:cNvPr name="Group 12" id="12"/>
          <p:cNvGrpSpPr/>
          <p:nvPr/>
        </p:nvGrpSpPr>
        <p:grpSpPr>
          <a:xfrm rot="0">
            <a:off x="8937882" y="5478641"/>
            <a:ext cx="10459797" cy="799122"/>
            <a:chOff x="0" y="0"/>
            <a:chExt cx="2754844" cy="210468"/>
          </a:xfrm>
        </p:grpSpPr>
        <p:sp>
          <p:nvSpPr>
            <p:cNvPr name="Freeform 13" id="13"/>
            <p:cNvSpPr/>
            <p:nvPr/>
          </p:nvSpPr>
          <p:spPr>
            <a:xfrm flipH="false" flipV="false" rot="0">
              <a:off x="0" y="0"/>
              <a:ext cx="2754844" cy="210468"/>
            </a:xfrm>
            <a:custGeom>
              <a:avLst/>
              <a:gdLst/>
              <a:ahLst/>
              <a:cxnLst/>
              <a:rect r="r" b="b" t="t" l="l"/>
              <a:pathLst>
                <a:path h="210468" w="2754844">
                  <a:moveTo>
                    <a:pt x="37748" y="0"/>
                  </a:moveTo>
                  <a:lnTo>
                    <a:pt x="2717096" y="0"/>
                  </a:lnTo>
                  <a:cubicBezTo>
                    <a:pt x="2727107" y="0"/>
                    <a:pt x="2736708" y="3977"/>
                    <a:pt x="2743788" y="11056"/>
                  </a:cubicBezTo>
                  <a:cubicBezTo>
                    <a:pt x="2750867" y="18135"/>
                    <a:pt x="2754844" y="27737"/>
                    <a:pt x="2754844" y="37748"/>
                  </a:cubicBezTo>
                  <a:lnTo>
                    <a:pt x="2754844" y="172720"/>
                  </a:lnTo>
                  <a:cubicBezTo>
                    <a:pt x="2754844" y="182732"/>
                    <a:pt x="2750867" y="192333"/>
                    <a:pt x="2743788" y="199412"/>
                  </a:cubicBezTo>
                  <a:cubicBezTo>
                    <a:pt x="2736708" y="206491"/>
                    <a:pt x="2727107" y="210468"/>
                    <a:pt x="2717096" y="210468"/>
                  </a:cubicBezTo>
                  <a:lnTo>
                    <a:pt x="37748" y="210468"/>
                  </a:lnTo>
                  <a:cubicBezTo>
                    <a:pt x="27737" y="210468"/>
                    <a:pt x="18135" y="206491"/>
                    <a:pt x="11056" y="199412"/>
                  </a:cubicBezTo>
                  <a:cubicBezTo>
                    <a:pt x="3977" y="192333"/>
                    <a:pt x="0" y="182732"/>
                    <a:pt x="0" y="172720"/>
                  </a:cubicBezTo>
                  <a:lnTo>
                    <a:pt x="0" y="37748"/>
                  </a:lnTo>
                  <a:cubicBezTo>
                    <a:pt x="0" y="27737"/>
                    <a:pt x="3977" y="18135"/>
                    <a:pt x="11056" y="11056"/>
                  </a:cubicBezTo>
                  <a:cubicBezTo>
                    <a:pt x="18135" y="3977"/>
                    <a:pt x="27737" y="0"/>
                    <a:pt x="37748" y="0"/>
                  </a:cubicBezTo>
                  <a:close/>
                </a:path>
              </a:pathLst>
            </a:custGeom>
            <a:solidFill>
              <a:srgbClr val="E5D9F2"/>
            </a:solidFill>
            <a:ln w="57150" cap="rnd">
              <a:solidFill>
                <a:srgbClr val="433878"/>
              </a:solidFill>
              <a:prstDash val="solid"/>
              <a:round/>
            </a:ln>
          </p:spPr>
        </p:sp>
        <p:sp>
          <p:nvSpPr>
            <p:cNvPr name="TextBox 14" id="14"/>
            <p:cNvSpPr txBox="true"/>
            <p:nvPr/>
          </p:nvSpPr>
          <p:spPr>
            <a:xfrm>
              <a:off x="0" y="-38100"/>
              <a:ext cx="2754844" cy="24856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135016" y="5643304"/>
            <a:ext cx="469795" cy="46979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594F9"/>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9776261" y="5673088"/>
            <a:ext cx="8749765" cy="438785"/>
          </a:xfrm>
          <a:prstGeom prst="rect">
            <a:avLst/>
          </a:prstGeom>
        </p:spPr>
        <p:txBody>
          <a:bodyPr anchor="t" rtlCol="false" tIns="0" lIns="0" bIns="0" rIns="0">
            <a:spAutoFit/>
          </a:bodyPr>
          <a:lstStyle/>
          <a:p>
            <a:pPr algn="l">
              <a:lnSpc>
                <a:spcPts val="3564"/>
              </a:lnSpc>
              <a:spcBef>
                <a:spcPct val="0"/>
              </a:spcBef>
            </a:pPr>
            <a:r>
              <a:rPr lang="en-US" b="true" sz="3099" spc="309">
                <a:solidFill>
                  <a:srgbClr val="433878"/>
                </a:solidFill>
                <a:latin typeface="Open Sans Ultra-Bold"/>
                <a:ea typeface="Open Sans Ultra-Bold"/>
                <a:cs typeface="Open Sans Ultra-Bold"/>
                <a:sym typeface="Open Sans Ultra-Bold"/>
              </a:rPr>
              <a:t>COSTO OPERACIONAL DE SERVICIOS</a:t>
            </a:r>
          </a:p>
        </p:txBody>
      </p:sp>
      <p:sp>
        <p:nvSpPr>
          <p:cNvPr name="TextBox 19" id="19"/>
          <p:cNvSpPr txBox="true"/>
          <p:nvPr/>
        </p:nvSpPr>
        <p:spPr>
          <a:xfrm rot="0">
            <a:off x="9082619" y="8589141"/>
            <a:ext cx="8979467" cy="1177290"/>
          </a:xfrm>
          <a:prstGeom prst="rect">
            <a:avLst/>
          </a:prstGeom>
        </p:spPr>
        <p:txBody>
          <a:bodyPr anchor="t" rtlCol="false" tIns="0" lIns="0" bIns="0" rIns="0">
            <a:spAutoFit/>
          </a:bodyPr>
          <a:lstStyle/>
          <a:p>
            <a:pPr algn="l">
              <a:lnSpc>
                <a:spcPts val="3150"/>
              </a:lnSpc>
            </a:pPr>
            <a:r>
              <a:rPr lang="en-US" sz="2100" spc="420" b="true">
                <a:solidFill>
                  <a:srgbClr val="433878"/>
                </a:solidFill>
                <a:latin typeface="Open Sans Medium"/>
                <a:ea typeface="Open Sans Medium"/>
                <a:cs typeface="Open Sans Medium"/>
                <a:sym typeface="Open Sans Medium"/>
              </a:rPr>
              <a:t>El cronograma es muy limitado para implementar todas las funcionalidades avanzadas de IA y gamificación en el MVP.</a:t>
            </a:r>
          </a:p>
        </p:txBody>
      </p:sp>
      <p:grpSp>
        <p:nvGrpSpPr>
          <p:cNvPr name="Group 20" id="20"/>
          <p:cNvGrpSpPr/>
          <p:nvPr/>
        </p:nvGrpSpPr>
        <p:grpSpPr>
          <a:xfrm rot="0">
            <a:off x="8937882" y="7649500"/>
            <a:ext cx="10459797" cy="799122"/>
            <a:chOff x="0" y="0"/>
            <a:chExt cx="2754844" cy="210468"/>
          </a:xfrm>
        </p:grpSpPr>
        <p:sp>
          <p:nvSpPr>
            <p:cNvPr name="Freeform 21" id="21"/>
            <p:cNvSpPr/>
            <p:nvPr/>
          </p:nvSpPr>
          <p:spPr>
            <a:xfrm flipH="false" flipV="false" rot="0">
              <a:off x="0" y="0"/>
              <a:ext cx="2754844" cy="210468"/>
            </a:xfrm>
            <a:custGeom>
              <a:avLst/>
              <a:gdLst/>
              <a:ahLst/>
              <a:cxnLst/>
              <a:rect r="r" b="b" t="t" l="l"/>
              <a:pathLst>
                <a:path h="210468" w="2754844">
                  <a:moveTo>
                    <a:pt x="37748" y="0"/>
                  </a:moveTo>
                  <a:lnTo>
                    <a:pt x="2717096" y="0"/>
                  </a:lnTo>
                  <a:cubicBezTo>
                    <a:pt x="2727107" y="0"/>
                    <a:pt x="2736708" y="3977"/>
                    <a:pt x="2743788" y="11056"/>
                  </a:cubicBezTo>
                  <a:cubicBezTo>
                    <a:pt x="2750867" y="18135"/>
                    <a:pt x="2754844" y="27737"/>
                    <a:pt x="2754844" y="37748"/>
                  </a:cubicBezTo>
                  <a:lnTo>
                    <a:pt x="2754844" y="172720"/>
                  </a:lnTo>
                  <a:cubicBezTo>
                    <a:pt x="2754844" y="182732"/>
                    <a:pt x="2750867" y="192333"/>
                    <a:pt x="2743788" y="199412"/>
                  </a:cubicBezTo>
                  <a:cubicBezTo>
                    <a:pt x="2736708" y="206491"/>
                    <a:pt x="2727107" y="210468"/>
                    <a:pt x="2717096" y="210468"/>
                  </a:cubicBezTo>
                  <a:lnTo>
                    <a:pt x="37748" y="210468"/>
                  </a:lnTo>
                  <a:cubicBezTo>
                    <a:pt x="27737" y="210468"/>
                    <a:pt x="18135" y="206491"/>
                    <a:pt x="11056" y="199412"/>
                  </a:cubicBezTo>
                  <a:cubicBezTo>
                    <a:pt x="3977" y="192333"/>
                    <a:pt x="0" y="182732"/>
                    <a:pt x="0" y="172720"/>
                  </a:cubicBezTo>
                  <a:lnTo>
                    <a:pt x="0" y="37748"/>
                  </a:lnTo>
                  <a:cubicBezTo>
                    <a:pt x="0" y="27737"/>
                    <a:pt x="3977" y="18135"/>
                    <a:pt x="11056" y="11056"/>
                  </a:cubicBezTo>
                  <a:cubicBezTo>
                    <a:pt x="18135" y="3977"/>
                    <a:pt x="27737" y="0"/>
                    <a:pt x="37748" y="0"/>
                  </a:cubicBezTo>
                  <a:close/>
                </a:path>
              </a:pathLst>
            </a:custGeom>
            <a:solidFill>
              <a:srgbClr val="E5D9F2"/>
            </a:solidFill>
            <a:ln w="57150" cap="rnd">
              <a:solidFill>
                <a:srgbClr val="433878"/>
              </a:solidFill>
              <a:prstDash val="solid"/>
              <a:round/>
            </a:ln>
          </p:spPr>
        </p:sp>
        <p:sp>
          <p:nvSpPr>
            <p:cNvPr name="TextBox 22" id="22"/>
            <p:cNvSpPr txBox="true"/>
            <p:nvPr/>
          </p:nvSpPr>
          <p:spPr>
            <a:xfrm>
              <a:off x="0" y="-38100"/>
              <a:ext cx="2754844" cy="248568"/>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9135016" y="7814164"/>
            <a:ext cx="469795" cy="46979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594F9"/>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9776261" y="7843947"/>
            <a:ext cx="8143509" cy="438785"/>
          </a:xfrm>
          <a:prstGeom prst="rect">
            <a:avLst/>
          </a:prstGeom>
        </p:spPr>
        <p:txBody>
          <a:bodyPr anchor="t" rtlCol="false" tIns="0" lIns="0" bIns="0" rIns="0">
            <a:spAutoFit/>
          </a:bodyPr>
          <a:lstStyle/>
          <a:p>
            <a:pPr algn="l">
              <a:lnSpc>
                <a:spcPts val="3564"/>
              </a:lnSpc>
              <a:spcBef>
                <a:spcPct val="0"/>
              </a:spcBef>
            </a:pPr>
            <a:r>
              <a:rPr lang="en-US" b="true" sz="3099" spc="309">
                <a:solidFill>
                  <a:srgbClr val="433878"/>
                </a:solidFill>
                <a:latin typeface="Open Sans Ultra-Bold"/>
                <a:ea typeface="Open Sans Ultra-Bold"/>
                <a:cs typeface="Open Sans Ultra-Bold"/>
                <a:sym typeface="Open Sans Ultra-Bold"/>
              </a:rPr>
              <a:t>TIEMPO DE DESARROLLO ACOTADO</a:t>
            </a:r>
          </a:p>
        </p:txBody>
      </p:sp>
      <p:sp>
        <p:nvSpPr>
          <p:cNvPr name="AutoShape 27" id="27"/>
          <p:cNvSpPr/>
          <p:nvPr/>
        </p:nvSpPr>
        <p:spPr>
          <a:xfrm flipH="true">
            <a:off x="847886" y="0"/>
            <a:ext cx="0" cy="4794966"/>
          </a:xfrm>
          <a:prstGeom prst="line">
            <a:avLst/>
          </a:prstGeom>
          <a:ln cap="flat" w="57150">
            <a:solidFill>
              <a:srgbClr val="A594F9"/>
            </a:solidFill>
            <a:prstDash val="solid"/>
            <a:headEnd type="none" len="sm" w="sm"/>
            <a:tailEnd type="none" len="sm" w="sm"/>
          </a:ln>
        </p:spPr>
      </p:sp>
      <p:sp>
        <p:nvSpPr>
          <p:cNvPr name="AutoShape 28" id="28"/>
          <p:cNvSpPr/>
          <p:nvPr/>
        </p:nvSpPr>
        <p:spPr>
          <a:xfrm>
            <a:off x="8593119" y="1272407"/>
            <a:ext cx="0" cy="9014593"/>
          </a:xfrm>
          <a:prstGeom prst="line">
            <a:avLst/>
          </a:prstGeom>
          <a:ln cap="flat" w="57150">
            <a:solidFill>
              <a:srgbClr val="A594F9"/>
            </a:solidFill>
            <a:prstDash val="solid"/>
            <a:headEnd type="none" len="sm" w="sm"/>
            <a:tailEnd type="none" len="sm" w="sm"/>
          </a:ln>
        </p:spPr>
      </p:sp>
      <p:sp>
        <p:nvSpPr>
          <p:cNvPr name="TextBox 29" id="29"/>
          <p:cNvSpPr txBox="true"/>
          <p:nvPr/>
        </p:nvSpPr>
        <p:spPr>
          <a:xfrm rot="0">
            <a:off x="1049315" y="2543419"/>
            <a:ext cx="7229479" cy="1134746"/>
          </a:xfrm>
          <a:prstGeom prst="rect">
            <a:avLst/>
          </a:prstGeom>
        </p:spPr>
        <p:txBody>
          <a:bodyPr anchor="t" rtlCol="false" tIns="0" lIns="0" bIns="0" rIns="0">
            <a:spAutoFit/>
          </a:bodyPr>
          <a:lstStyle/>
          <a:p>
            <a:pPr algn="l" marL="0" indent="0" lvl="0">
              <a:lnSpc>
                <a:spcPts val="8855"/>
              </a:lnSpc>
            </a:pPr>
            <a:r>
              <a:rPr lang="en-US" b="true" sz="7700">
                <a:solidFill>
                  <a:srgbClr val="433878"/>
                </a:solidFill>
                <a:latin typeface="Montserrat Ultra-Bold"/>
                <a:ea typeface="Montserrat Ultra-Bold"/>
                <a:cs typeface="Montserrat Ultra-Bold"/>
                <a:sym typeface="Montserrat Ultra-Bold"/>
              </a:rPr>
              <a:t>OBSTÁCULOS</a:t>
            </a:r>
          </a:p>
        </p:txBody>
      </p:sp>
      <p:sp>
        <p:nvSpPr>
          <p:cNvPr name="Freeform 30" id="30"/>
          <p:cNvSpPr/>
          <p:nvPr/>
        </p:nvSpPr>
        <p:spPr>
          <a:xfrm flipH="false" flipV="false" rot="5400000">
            <a:off x="748340" y="4405946"/>
            <a:ext cx="488566" cy="289475"/>
          </a:xfrm>
          <a:custGeom>
            <a:avLst/>
            <a:gdLst/>
            <a:ahLst/>
            <a:cxnLst/>
            <a:rect r="r" b="b" t="t" l="l"/>
            <a:pathLst>
              <a:path h="289475" w="488566">
                <a:moveTo>
                  <a:pt x="0" y="0"/>
                </a:moveTo>
                <a:lnTo>
                  <a:pt x="488566" y="0"/>
                </a:lnTo>
                <a:lnTo>
                  <a:pt x="488566" y="289475"/>
                </a:lnTo>
                <a:lnTo>
                  <a:pt x="0" y="2894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1" id="31"/>
          <p:cNvSpPr/>
          <p:nvPr/>
        </p:nvSpPr>
        <p:spPr>
          <a:xfrm flipH="false" flipV="false" rot="5400000">
            <a:off x="8693599" y="1371952"/>
            <a:ext cx="488566" cy="289475"/>
          </a:xfrm>
          <a:custGeom>
            <a:avLst/>
            <a:gdLst/>
            <a:ahLst/>
            <a:cxnLst/>
            <a:rect r="r" b="b" t="t" l="l"/>
            <a:pathLst>
              <a:path h="289475" w="488566">
                <a:moveTo>
                  <a:pt x="0" y="0"/>
                </a:moveTo>
                <a:lnTo>
                  <a:pt x="488566" y="0"/>
                </a:lnTo>
                <a:lnTo>
                  <a:pt x="488566" y="289476"/>
                </a:lnTo>
                <a:lnTo>
                  <a:pt x="0" y="2894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2" id="32"/>
          <p:cNvSpPr txBox="true"/>
          <p:nvPr/>
        </p:nvSpPr>
        <p:spPr>
          <a:xfrm rot="0">
            <a:off x="9315450" y="2076562"/>
            <a:ext cx="9210575" cy="1177290"/>
          </a:xfrm>
          <a:prstGeom prst="rect">
            <a:avLst/>
          </a:prstGeom>
        </p:spPr>
        <p:txBody>
          <a:bodyPr anchor="t" rtlCol="false" tIns="0" lIns="0" bIns="0" rIns="0">
            <a:spAutoFit/>
          </a:bodyPr>
          <a:lstStyle/>
          <a:p>
            <a:pPr algn="l">
              <a:lnSpc>
                <a:spcPts val="3150"/>
              </a:lnSpc>
            </a:pPr>
            <a:r>
              <a:rPr lang="en-US" sz="2100" spc="420" b="true">
                <a:solidFill>
                  <a:srgbClr val="433878"/>
                </a:solidFill>
                <a:latin typeface="Open Sans Medium"/>
                <a:ea typeface="Open Sans Medium"/>
                <a:cs typeface="Open Sans Medium"/>
                <a:sym typeface="Open Sans Medium"/>
              </a:rPr>
              <a:t>La dependencia de la IA externa podría introducir latencia, afectando la experiencia de juego en tiempo real </a:t>
            </a:r>
          </a:p>
        </p:txBody>
      </p:sp>
      <p:grpSp>
        <p:nvGrpSpPr>
          <p:cNvPr name="Group 33" id="33"/>
          <p:cNvGrpSpPr/>
          <p:nvPr/>
        </p:nvGrpSpPr>
        <p:grpSpPr>
          <a:xfrm rot="0">
            <a:off x="8937882" y="1136921"/>
            <a:ext cx="10459797" cy="799122"/>
            <a:chOff x="0" y="0"/>
            <a:chExt cx="2754844" cy="210468"/>
          </a:xfrm>
        </p:grpSpPr>
        <p:sp>
          <p:nvSpPr>
            <p:cNvPr name="Freeform 34" id="34"/>
            <p:cNvSpPr/>
            <p:nvPr/>
          </p:nvSpPr>
          <p:spPr>
            <a:xfrm flipH="false" flipV="false" rot="0">
              <a:off x="0" y="0"/>
              <a:ext cx="2754844" cy="210468"/>
            </a:xfrm>
            <a:custGeom>
              <a:avLst/>
              <a:gdLst/>
              <a:ahLst/>
              <a:cxnLst/>
              <a:rect r="r" b="b" t="t" l="l"/>
              <a:pathLst>
                <a:path h="210468" w="2754844">
                  <a:moveTo>
                    <a:pt x="37748" y="0"/>
                  </a:moveTo>
                  <a:lnTo>
                    <a:pt x="2717096" y="0"/>
                  </a:lnTo>
                  <a:cubicBezTo>
                    <a:pt x="2727107" y="0"/>
                    <a:pt x="2736708" y="3977"/>
                    <a:pt x="2743788" y="11056"/>
                  </a:cubicBezTo>
                  <a:cubicBezTo>
                    <a:pt x="2750867" y="18135"/>
                    <a:pt x="2754844" y="27737"/>
                    <a:pt x="2754844" y="37748"/>
                  </a:cubicBezTo>
                  <a:lnTo>
                    <a:pt x="2754844" y="172720"/>
                  </a:lnTo>
                  <a:cubicBezTo>
                    <a:pt x="2754844" y="182732"/>
                    <a:pt x="2750867" y="192333"/>
                    <a:pt x="2743788" y="199412"/>
                  </a:cubicBezTo>
                  <a:cubicBezTo>
                    <a:pt x="2736708" y="206491"/>
                    <a:pt x="2727107" y="210468"/>
                    <a:pt x="2717096" y="210468"/>
                  </a:cubicBezTo>
                  <a:lnTo>
                    <a:pt x="37748" y="210468"/>
                  </a:lnTo>
                  <a:cubicBezTo>
                    <a:pt x="27737" y="210468"/>
                    <a:pt x="18135" y="206491"/>
                    <a:pt x="11056" y="199412"/>
                  </a:cubicBezTo>
                  <a:cubicBezTo>
                    <a:pt x="3977" y="192333"/>
                    <a:pt x="0" y="182732"/>
                    <a:pt x="0" y="172720"/>
                  </a:cubicBezTo>
                  <a:lnTo>
                    <a:pt x="0" y="37748"/>
                  </a:lnTo>
                  <a:cubicBezTo>
                    <a:pt x="0" y="27737"/>
                    <a:pt x="3977" y="18135"/>
                    <a:pt x="11056" y="11056"/>
                  </a:cubicBezTo>
                  <a:cubicBezTo>
                    <a:pt x="18135" y="3977"/>
                    <a:pt x="27737" y="0"/>
                    <a:pt x="37748" y="0"/>
                  </a:cubicBezTo>
                  <a:close/>
                </a:path>
              </a:pathLst>
            </a:custGeom>
            <a:solidFill>
              <a:srgbClr val="E5D9F2"/>
            </a:solidFill>
            <a:ln w="57150" cap="rnd">
              <a:solidFill>
                <a:srgbClr val="433878"/>
              </a:solidFill>
              <a:prstDash val="solid"/>
              <a:round/>
            </a:ln>
          </p:spPr>
        </p:sp>
        <p:sp>
          <p:nvSpPr>
            <p:cNvPr name="TextBox 35" id="35"/>
            <p:cNvSpPr txBox="true"/>
            <p:nvPr/>
          </p:nvSpPr>
          <p:spPr>
            <a:xfrm>
              <a:off x="0" y="-38100"/>
              <a:ext cx="2754844" cy="248568"/>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9135016" y="1301585"/>
            <a:ext cx="469795" cy="469795"/>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594F9"/>
            </a:soli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9" id="39"/>
          <p:cNvSpPr txBox="true"/>
          <p:nvPr/>
        </p:nvSpPr>
        <p:spPr>
          <a:xfrm rot="0">
            <a:off x="9776261" y="1331368"/>
            <a:ext cx="7114809" cy="438785"/>
          </a:xfrm>
          <a:prstGeom prst="rect">
            <a:avLst/>
          </a:prstGeom>
        </p:spPr>
        <p:txBody>
          <a:bodyPr anchor="t" rtlCol="false" tIns="0" lIns="0" bIns="0" rIns="0">
            <a:spAutoFit/>
          </a:bodyPr>
          <a:lstStyle/>
          <a:p>
            <a:pPr algn="l">
              <a:lnSpc>
                <a:spcPts val="3564"/>
              </a:lnSpc>
              <a:spcBef>
                <a:spcPct val="0"/>
              </a:spcBef>
            </a:pPr>
            <a:r>
              <a:rPr lang="en-US" b="true" sz="3099" spc="309">
                <a:solidFill>
                  <a:srgbClr val="433878"/>
                </a:solidFill>
                <a:latin typeface="Open Sans Ultra-Bold"/>
                <a:ea typeface="Open Sans Ultra-Bold"/>
                <a:cs typeface="Open Sans Ultra-Bold"/>
                <a:sym typeface="Open Sans Ultra-Bold"/>
              </a:rPr>
              <a:t>LATENCIA DE LA API GEMINI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1748" y="166118"/>
            <a:ext cx="9051198" cy="8564696"/>
          </a:xfrm>
          <a:custGeom>
            <a:avLst/>
            <a:gdLst/>
            <a:ahLst/>
            <a:cxnLst/>
            <a:rect r="r" b="b" t="t" l="l"/>
            <a:pathLst>
              <a:path h="8564696" w="9051198">
                <a:moveTo>
                  <a:pt x="0" y="0"/>
                </a:moveTo>
                <a:lnTo>
                  <a:pt x="9051198" y="0"/>
                </a:lnTo>
                <a:lnTo>
                  <a:pt x="9051198" y="8564697"/>
                </a:lnTo>
                <a:lnTo>
                  <a:pt x="0" y="8564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7153502" y="0"/>
            <a:ext cx="0" cy="3623236"/>
          </a:xfrm>
          <a:prstGeom prst="line">
            <a:avLst/>
          </a:prstGeom>
          <a:ln cap="flat" w="57150">
            <a:solidFill>
              <a:srgbClr val="A594F9"/>
            </a:solidFill>
            <a:prstDash val="solid"/>
            <a:headEnd type="none" len="sm" w="sm"/>
            <a:tailEnd type="none" len="sm" w="sm"/>
          </a:ln>
        </p:spPr>
      </p:sp>
      <p:sp>
        <p:nvSpPr>
          <p:cNvPr name="Freeform 4" id="4"/>
          <p:cNvSpPr/>
          <p:nvPr/>
        </p:nvSpPr>
        <p:spPr>
          <a:xfrm flipH="false" flipV="false" rot="5400000">
            <a:off x="7022516" y="3234215"/>
            <a:ext cx="488566" cy="289475"/>
          </a:xfrm>
          <a:custGeom>
            <a:avLst/>
            <a:gdLst/>
            <a:ahLst/>
            <a:cxnLst/>
            <a:rect r="r" b="b" t="t" l="l"/>
            <a:pathLst>
              <a:path h="289475" w="488566">
                <a:moveTo>
                  <a:pt x="0" y="0"/>
                </a:moveTo>
                <a:lnTo>
                  <a:pt x="488566" y="0"/>
                </a:lnTo>
                <a:lnTo>
                  <a:pt x="488566" y="289475"/>
                </a:lnTo>
                <a:lnTo>
                  <a:pt x="0" y="2894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546560" y="577697"/>
            <a:ext cx="7832709" cy="720895"/>
            <a:chOff x="0" y="0"/>
            <a:chExt cx="2062936" cy="189865"/>
          </a:xfrm>
        </p:grpSpPr>
        <p:sp>
          <p:nvSpPr>
            <p:cNvPr name="Freeform 6" id="6"/>
            <p:cNvSpPr/>
            <p:nvPr/>
          </p:nvSpPr>
          <p:spPr>
            <a:xfrm flipH="false" flipV="false" rot="0">
              <a:off x="0" y="0"/>
              <a:ext cx="2062936" cy="189865"/>
            </a:xfrm>
            <a:custGeom>
              <a:avLst/>
              <a:gdLst/>
              <a:ahLst/>
              <a:cxnLst/>
              <a:rect r="r" b="b" t="t" l="l"/>
              <a:pathLst>
                <a:path h="189865" w="2062936">
                  <a:moveTo>
                    <a:pt x="50409" y="0"/>
                  </a:moveTo>
                  <a:lnTo>
                    <a:pt x="2012527" y="0"/>
                  </a:lnTo>
                  <a:cubicBezTo>
                    <a:pt x="2040367" y="0"/>
                    <a:pt x="2062936" y="22569"/>
                    <a:pt x="2062936" y="50409"/>
                  </a:cubicBezTo>
                  <a:lnTo>
                    <a:pt x="2062936" y="139457"/>
                  </a:lnTo>
                  <a:cubicBezTo>
                    <a:pt x="2062936" y="167297"/>
                    <a:pt x="2040367" y="189865"/>
                    <a:pt x="2012527" y="189865"/>
                  </a:cubicBezTo>
                  <a:lnTo>
                    <a:pt x="50409" y="189865"/>
                  </a:lnTo>
                  <a:cubicBezTo>
                    <a:pt x="22569" y="189865"/>
                    <a:pt x="0" y="167297"/>
                    <a:pt x="0" y="139457"/>
                  </a:cubicBezTo>
                  <a:lnTo>
                    <a:pt x="0" y="50409"/>
                  </a:lnTo>
                  <a:cubicBezTo>
                    <a:pt x="0" y="22569"/>
                    <a:pt x="22569" y="0"/>
                    <a:pt x="50409" y="0"/>
                  </a:cubicBezTo>
                  <a:close/>
                </a:path>
              </a:pathLst>
            </a:custGeom>
            <a:solidFill>
              <a:srgbClr val="000000">
                <a:alpha val="0"/>
              </a:srgbClr>
            </a:solidFill>
            <a:ln w="57150" cap="rnd">
              <a:solidFill>
                <a:srgbClr val="433878"/>
              </a:solidFill>
              <a:prstDash val="solid"/>
              <a:round/>
            </a:ln>
          </p:spPr>
        </p:sp>
        <p:sp>
          <p:nvSpPr>
            <p:cNvPr name="TextBox 7" id="7"/>
            <p:cNvSpPr txBox="true"/>
            <p:nvPr/>
          </p:nvSpPr>
          <p:spPr>
            <a:xfrm>
              <a:off x="0" y="-38100"/>
              <a:ext cx="2062936" cy="22796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658725" y="703247"/>
            <a:ext cx="469795" cy="46979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B57D"/>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424909" y="2530931"/>
            <a:ext cx="6864876" cy="5225137"/>
          </a:xfrm>
          <a:custGeom>
            <a:avLst/>
            <a:gdLst/>
            <a:ahLst/>
            <a:cxnLst/>
            <a:rect r="r" b="b" t="t" l="l"/>
            <a:pathLst>
              <a:path h="5225137" w="6864876">
                <a:moveTo>
                  <a:pt x="0" y="0"/>
                </a:moveTo>
                <a:lnTo>
                  <a:pt x="6864876" y="0"/>
                </a:lnTo>
                <a:lnTo>
                  <a:pt x="6864876" y="5225138"/>
                </a:lnTo>
                <a:lnTo>
                  <a:pt x="0" y="5225138"/>
                </a:lnTo>
                <a:lnTo>
                  <a:pt x="0" y="0"/>
                </a:lnTo>
                <a:close/>
              </a:path>
            </a:pathLst>
          </a:custGeom>
          <a:blipFill>
            <a:blip r:embed="rId6"/>
            <a:stretch>
              <a:fillRect l="-75" t="0" r="-75" b="0"/>
            </a:stretch>
          </a:blipFill>
        </p:spPr>
      </p:sp>
      <p:sp>
        <p:nvSpPr>
          <p:cNvPr name="TextBox 12" id="12"/>
          <p:cNvSpPr txBox="true"/>
          <p:nvPr/>
        </p:nvSpPr>
        <p:spPr>
          <a:xfrm rot="0">
            <a:off x="10718550" y="4806484"/>
            <a:ext cx="9847764" cy="1174750"/>
          </a:xfrm>
          <a:prstGeom prst="rect">
            <a:avLst/>
          </a:prstGeom>
        </p:spPr>
        <p:txBody>
          <a:bodyPr anchor="t" rtlCol="false" tIns="0" lIns="0" bIns="0" rIns="0">
            <a:spAutoFit/>
          </a:bodyPr>
          <a:lstStyle/>
          <a:p>
            <a:pPr algn="l" marL="0" indent="0" lvl="0">
              <a:lnSpc>
                <a:spcPts val="9200"/>
              </a:lnSpc>
            </a:pPr>
            <a:r>
              <a:rPr lang="en-US" b="true" sz="8000">
                <a:solidFill>
                  <a:srgbClr val="433878"/>
                </a:solidFill>
                <a:latin typeface="Montserrat Ultra-Bold"/>
                <a:ea typeface="Montserrat Ultra-Bold"/>
                <a:cs typeface="Montserrat Ultra-Bold"/>
                <a:sym typeface="Montserrat Ultra-Bold"/>
              </a:rPr>
              <a:t>GRACIAS</a:t>
            </a:r>
          </a:p>
        </p:txBody>
      </p:sp>
      <p:sp>
        <p:nvSpPr>
          <p:cNvPr name="TextBox 13" id="13"/>
          <p:cNvSpPr txBox="true"/>
          <p:nvPr/>
        </p:nvSpPr>
        <p:spPr>
          <a:xfrm rot="0">
            <a:off x="27147" y="788593"/>
            <a:ext cx="5310239" cy="308610"/>
          </a:xfrm>
          <a:prstGeom prst="rect">
            <a:avLst/>
          </a:prstGeom>
        </p:spPr>
        <p:txBody>
          <a:bodyPr anchor="t" rtlCol="false" tIns="0" lIns="0" bIns="0" rIns="0">
            <a:spAutoFit/>
          </a:bodyPr>
          <a:lstStyle/>
          <a:p>
            <a:pPr algn="l">
              <a:lnSpc>
                <a:spcPts val="2415"/>
              </a:lnSpc>
              <a:spcBef>
                <a:spcPct val="0"/>
              </a:spcBef>
            </a:pPr>
            <a:r>
              <a:rPr lang="en-US" b="true" sz="2100" spc="210">
                <a:solidFill>
                  <a:srgbClr val="433878"/>
                </a:solidFill>
                <a:latin typeface="Open Sans Bold"/>
                <a:ea typeface="Open Sans Bold"/>
                <a:cs typeface="Open Sans Bold"/>
                <a:sym typeface="Open Sans Bold"/>
              </a:rPr>
              <a:t>DICIEMBRE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DAG5WTQulHQ</dc:identifier>
  <dcterms:modified xsi:type="dcterms:W3CDTF">2011-08-01T06:04:30Z</dcterms:modified>
  <cp:revision>1</cp:revision>
  <dc:title>social media marketing</dc:title>
</cp:coreProperties>
</file>